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75" r:id="rId7"/>
    <p:sldId id="271" r:id="rId8"/>
    <p:sldId id="273" r:id="rId9"/>
    <p:sldId id="286" r:id="rId10"/>
    <p:sldId id="276" r:id="rId11"/>
    <p:sldId id="277" r:id="rId12"/>
    <p:sldId id="270" r:id="rId13"/>
    <p:sldId id="278" r:id="rId14"/>
    <p:sldId id="279" r:id="rId15"/>
    <p:sldId id="280" r:id="rId16"/>
    <p:sldId id="281" r:id="rId17"/>
    <p:sldId id="282" r:id="rId18"/>
    <p:sldId id="28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rya vinay varma vegesna" initials="sv" lastIdx="2" clrIdx="0">
    <p:extLst>
      <p:ext uri="{19B8F6BF-5375-455C-9EA6-DF929625EA0E}">
        <p15:presenceInfo xmlns:p15="http://schemas.microsoft.com/office/powerpoint/2012/main" userId="7a0605f1fb26d3c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7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1566-8D33-0846-1054-D1E103B900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5A3F7F-C454-B9C2-B2E6-0CF79297A0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D464E1-6A66-F6E5-BE26-C0808506E4C7}"/>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956AD308-5ED1-1A08-8812-A79D495120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16E700-AAD9-75D0-0B98-847F77827B72}"/>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06635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32EF-0EA0-DDEC-8BC9-1AA5AECAC9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63964F-7291-BD17-4675-FF45DFC1C1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6CBAE5-B4F1-5219-E38F-17EC03F4480B}"/>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9A8C199B-3220-9BBA-6904-2959266074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2DCAA7-025C-94B4-CCA4-85114E0140E0}"/>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866509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0529E-5FA6-78D0-C6C2-F8E457D26B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A726CB-DDE7-E4FA-FB26-E81DCEC1A1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AA84BA-C442-984C-0533-73CEA35D99A7}"/>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A1201FD5-6219-FA9F-0BFC-EF727AD99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AA81B-E4A8-9278-EC0A-9E48AA2E9A7C}"/>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048147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0764C-DF20-328A-9258-D1F3C710BE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408422-7284-56D0-79D5-E0FCD7318B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7A1908-B1F9-A0CF-B02C-0D2CAD7B03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06AA01-6399-222B-DDFF-4E7824DFBF51}"/>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6" name="Footer Placeholder 5">
            <a:extLst>
              <a:ext uri="{FF2B5EF4-FFF2-40B4-BE49-F238E27FC236}">
                <a16:creationId xmlns:a16="http://schemas.microsoft.com/office/drawing/2014/main" id="{BFB6340E-034F-EA65-D214-CE96C18866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7FD7FA-B024-0EAA-C95A-1E99EADB2DD9}"/>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52924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C119-3943-6CA4-DE40-73DDC957C55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ADDAA5-D590-B353-4DF5-B7773B75C3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E99F3F-29A2-823F-4A37-CD5032AB6F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19D77C-AA3B-4B5F-4554-430BE61FD0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5520A3-2DA0-24C7-D414-A10AD40CAF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3E880A-5F19-BF21-F963-B92ADAD88621}"/>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8" name="Footer Placeholder 7">
            <a:extLst>
              <a:ext uri="{FF2B5EF4-FFF2-40B4-BE49-F238E27FC236}">
                <a16:creationId xmlns:a16="http://schemas.microsoft.com/office/drawing/2014/main" id="{97FEC124-5B2F-FDFB-EF28-8C91A98870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013B35-4783-DD20-9D85-C533E2AF5AFE}"/>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3976808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BDBFD-4409-96B8-97BC-899EAFC03B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AA3A56-79CE-FC23-4F4C-5E11AB4E909F}"/>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4" name="Footer Placeholder 3">
            <a:extLst>
              <a:ext uri="{FF2B5EF4-FFF2-40B4-BE49-F238E27FC236}">
                <a16:creationId xmlns:a16="http://schemas.microsoft.com/office/drawing/2014/main" id="{D0789027-4972-83E9-EE7C-103914B4D7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7A25E6-6076-8075-FF8F-BDEDFD997FCE}"/>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3985921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3D2C0C-1C2E-232D-B3DD-7389478F3669}"/>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3" name="Footer Placeholder 2">
            <a:extLst>
              <a:ext uri="{FF2B5EF4-FFF2-40B4-BE49-F238E27FC236}">
                <a16:creationId xmlns:a16="http://schemas.microsoft.com/office/drawing/2014/main" id="{F152D073-F94B-F92D-2713-41B9CE6625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F04CD9-02B7-9C13-4715-1410DDCBAEB5}"/>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407373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AEBC8-FA4B-E3EB-D88A-090A16AC3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D29F7F-1C4C-7A30-CE88-C63A63574F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BD9FA4-912B-6563-AD0A-5E39417C96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95AA92-D14D-09EB-A388-BBE2419159E4}"/>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6" name="Footer Placeholder 5">
            <a:extLst>
              <a:ext uri="{FF2B5EF4-FFF2-40B4-BE49-F238E27FC236}">
                <a16:creationId xmlns:a16="http://schemas.microsoft.com/office/drawing/2014/main" id="{B2318414-CB60-06E5-BAE8-7A718EED97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6D78B1-FB8C-F0C9-2B54-6691BFA17B0E}"/>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976631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C7A1-DC3A-3DD3-7B59-1F68179904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1B0F3E-F0EF-1BB8-B275-F536CD173E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D34398-6AE7-2A9A-3993-DCFF8AEC78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9B0197-E476-C347-6206-7744C23E244D}"/>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6" name="Footer Placeholder 5">
            <a:extLst>
              <a:ext uri="{FF2B5EF4-FFF2-40B4-BE49-F238E27FC236}">
                <a16:creationId xmlns:a16="http://schemas.microsoft.com/office/drawing/2014/main" id="{55586694-8E91-E4AC-B542-D85A663956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CBFF30-1314-92A2-54CD-C280335CF55B}"/>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135066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21528-8424-EE37-36F9-3F7B8B2CC0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1AA39D-C2B8-32A8-DEBB-3DAF753F93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548F28-F896-1986-95DF-294916E6D716}"/>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74910E57-CEA7-7E2A-85F6-843CB21AC5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19049-BA6A-F4D2-033B-8B370EAB4654}"/>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79653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31B7B4-BFCB-9086-02C0-112EB5E3C0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B8A4D9-B630-83B4-E6F9-F3F5C89B52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9EC650-1740-E3D0-F4E1-CD608E563545}"/>
              </a:ext>
            </a:extLst>
          </p:cNvPr>
          <p:cNvSpPr>
            <a:spLocks noGrp="1"/>
          </p:cNvSpPr>
          <p:nvPr>
            <p:ph type="dt" sz="half" idx="10"/>
          </p:nvPr>
        </p:nvSpPr>
        <p:spPr/>
        <p:txBody>
          <a:body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E1E09C39-B41C-3FF4-283C-5DC86264F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E9D07-A7DC-4D43-058D-D4ED16E8A877}"/>
              </a:ext>
            </a:extLst>
          </p:cNvPr>
          <p:cNvSpPr>
            <a:spLocks noGrp="1"/>
          </p:cNvSpPr>
          <p:nvPr>
            <p:ph type="sldNum" sz="quarter" idx="12"/>
          </p:nvPr>
        </p:nvSpPr>
        <p:spPr/>
        <p:txBody>
          <a:bodyPr/>
          <a:lstStyle/>
          <a:p>
            <a:fld id="{60775DF4-2AA6-432F-9376-60B4C6C8A025}" type="slidenum">
              <a:rPr lang="en-IN" smtClean="0"/>
              <a:t>‹#›</a:t>
            </a:fld>
            <a:endParaRPr lang="en-IN"/>
          </a:p>
        </p:txBody>
      </p:sp>
    </p:spTree>
    <p:extLst>
      <p:ext uri="{BB962C8B-B14F-4D97-AF65-F5344CB8AC3E}">
        <p14:creationId xmlns:p14="http://schemas.microsoft.com/office/powerpoint/2010/main" val="288805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19E6A-9A5F-44A8-BCEB-DD0A61FAC3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4FB925-C70F-1C62-3903-A0B5BA6183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17D475-EC36-29AC-328C-1B7DBF7FA9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61D998-BD40-4613-8675-5643A6EFBDDB}" type="datetimeFigureOut">
              <a:rPr lang="en-IN" smtClean="0"/>
              <a:t>25-09-2023</a:t>
            </a:fld>
            <a:endParaRPr lang="en-IN"/>
          </a:p>
        </p:txBody>
      </p:sp>
      <p:sp>
        <p:nvSpPr>
          <p:cNvPr id="5" name="Footer Placeholder 4">
            <a:extLst>
              <a:ext uri="{FF2B5EF4-FFF2-40B4-BE49-F238E27FC236}">
                <a16:creationId xmlns:a16="http://schemas.microsoft.com/office/drawing/2014/main" id="{EDCEB302-3E89-526D-DD2B-B827AB48B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B56E89-653D-60AC-8FC1-5346D8E92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775DF4-2AA6-432F-9376-60B4C6C8A025}" type="slidenum">
              <a:rPr lang="en-IN" smtClean="0"/>
              <a:t>‹#›</a:t>
            </a:fld>
            <a:endParaRPr lang="en-IN"/>
          </a:p>
        </p:txBody>
      </p:sp>
    </p:spTree>
    <p:extLst>
      <p:ext uri="{BB962C8B-B14F-4D97-AF65-F5344CB8AC3E}">
        <p14:creationId xmlns:p14="http://schemas.microsoft.com/office/powerpoint/2010/main" val="1367201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6936-EB69-0D7A-C4D3-CCE435F9CA00}"/>
              </a:ext>
            </a:extLst>
          </p:cNvPr>
          <p:cNvSpPr>
            <a:spLocks noGrp="1"/>
          </p:cNvSpPr>
          <p:nvPr>
            <p:ph type="ctrTitle"/>
          </p:nvPr>
        </p:nvSpPr>
        <p:spPr>
          <a:xfrm>
            <a:off x="1524000" y="1122362"/>
            <a:ext cx="10668000" cy="5520485"/>
          </a:xfrm>
        </p:spPr>
        <p:txBody>
          <a:bodyPr>
            <a:normAutofit/>
          </a:bodyPr>
          <a:lstStyle/>
          <a:p>
            <a:br>
              <a:rPr lang="en-US" sz="1100" dirty="0">
                <a:solidFill>
                  <a:schemeClr val="tx1"/>
                </a:solidFill>
                <a:latin typeface="Arial" panose="020B0604020202020204" pitchFamily="34" charset="0"/>
                <a:cs typeface="Arial" pitchFamily="34" charset="0"/>
              </a:rPr>
            </a:br>
            <a:endParaRPr lang="en-IN" sz="2400" b="1" dirty="0"/>
          </a:p>
        </p:txBody>
      </p:sp>
      <p:sp>
        <p:nvSpPr>
          <p:cNvPr id="3" name="Subtitle 2">
            <a:extLst>
              <a:ext uri="{FF2B5EF4-FFF2-40B4-BE49-F238E27FC236}">
                <a16:creationId xmlns:a16="http://schemas.microsoft.com/office/drawing/2014/main" id="{1EE8963B-94BC-D538-96F9-07DBEF6926F0}"/>
              </a:ext>
            </a:extLst>
          </p:cNvPr>
          <p:cNvSpPr>
            <a:spLocks noGrp="1"/>
          </p:cNvSpPr>
          <p:nvPr>
            <p:ph type="subTitle" idx="1"/>
          </p:nvPr>
        </p:nvSpPr>
        <p:spPr>
          <a:xfrm>
            <a:off x="759656" y="2998694"/>
            <a:ext cx="10427458" cy="4045044"/>
          </a:xfrm>
        </p:spPr>
        <p:txBody>
          <a:bodyPr>
            <a:normAutofit/>
          </a:bodyPr>
          <a:lstStyle/>
          <a:p>
            <a:r>
              <a:rPr lang="en-GB" dirty="0">
                <a:solidFill>
                  <a:schemeClr val="accent2">
                    <a:lumMod val="50000"/>
                  </a:schemeClr>
                </a:solidFill>
              </a:rPr>
              <a:t>““</a:t>
            </a:r>
            <a:r>
              <a:rPr lang="en-GB" dirty="0">
                <a:solidFill>
                  <a:schemeClr val="accent2">
                    <a:lumMod val="50000"/>
                  </a:schemeClr>
                </a:solidFill>
                <a:latin typeface="Arial Black" panose="020B0A04020102020204" pitchFamily="34" charset="0"/>
              </a:rPr>
              <a:t>Johns</a:t>
            </a:r>
            <a:r>
              <a:rPr lang="en-GB" dirty="0">
                <a:solidFill>
                  <a:schemeClr val="accent2">
                    <a:lumMod val="50000"/>
                  </a:schemeClr>
                </a:solidFill>
              </a:rPr>
              <a:t> </a:t>
            </a:r>
            <a:r>
              <a:rPr lang="en-GB" dirty="0">
                <a:solidFill>
                  <a:schemeClr val="accent2">
                    <a:lumMod val="50000"/>
                  </a:schemeClr>
                </a:solidFill>
                <a:latin typeface="Arial Black" panose="020B0A04020102020204" pitchFamily="34" charset="0"/>
              </a:rPr>
              <a:t>Hopkins</a:t>
            </a:r>
            <a:r>
              <a:rPr lang="en-GB" dirty="0">
                <a:solidFill>
                  <a:schemeClr val="accent2">
                    <a:lumMod val="50000"/>
                  </a:schemeClr>
                </a:solidFill>
              </a:rPr>
              <a:t> </a:t>
            </a:r>
            <a:r>
              <a:rPr lang="en-GB" dirty="0">
                <a:solidFill>
                  <a:schemeClr val="accent2">
                    <a:lumMod val="50000"/>
                  </a:schemeClr>
                </a:solidFill>
                <a:latin typeface="Arial Black" panose="020B0A04020102020204" pitchFamily="34" charset="0"/>
              </a:rPr>
              <a:t>University</a:t>
            </a:r>
            <a:r>
              <a:rPr lang="en-GB" dirty="0">
                <a:solidFill>
                  <a:schemeClr val="accent2">
                    <a:lumMod val="50000"/>
                  </a:schemeClr>
                </a:solidFill>
              </a:rPr>
              <a:t> </a:t>
            </a:r>
            <a:r>
              <a:rPr lang="en-GB" dirty="0">
                <a:solidFill>
                  <a:schemeClr val="accent2">
                    <a:lumMod val="50000"/>
                  </a:schemeClr>
                </a:solidFill>
                <a:latin typeface="Arial Black" panose="020B0A04020102020204" pitchFamily="34" charset="0"/>
              </a:rPr>
              <a:t>Ionosphere</a:t>
            </a:r>
            <a:r>
              <a:rPr lang="en-GB" dirty="0">
                <a:solidFill>
                  <a:schemeClr val="accent2">
                    <a:lumMod val="50000"/>
                  </a:schemeClr>
                </a:solidFill>
              </a:rPr>
              <a:t> </a:t>
            </a:r>
            <a:r>
              <a:rPr lang="en-GB" dirty="0">
                <a:solidFill>
                  <a:schemeClr val="accent2">
                    <a:lumMod val="50000"/>
                  </a:schemeClr>
                </a:solidFill>
                <a:latin typeface="Arial Black" panose="020B0A04020102020204" pitchFamily="34" charset="0"/>
              </a:rPr>
              <a:t>database</a:t>
            </a:r>
            <a:r>
              <a:rPr lang="en-GB" dirty="0">
                <a:solidFill>
                  <a:schemeClr val="accent2">
                    <a:lumMod val="50000"/>
                  </a:schemeClr>
                </a:solidFill>
              </a:rPr>
              <a:t>””</a:t>
            </a:r>
          </a:p>
          <a:p>
            <a:endParaRPr lang="en-GB" dirty="0">
              <a:solidFill>
                <a:schemeClr val="accent2">
                  <a:lumMod val="50000"/>
                </a:schemeClr>
              </a:solidFill>
            </a:endParaRPr>
          </a:p>
          <a:p>
            <a:r>
              <a:rPr lang="en-US" sz="2400" dirty="0">
                <a:solidFill>
                  <a:schemeClr val="tx1">
                    <a:lumMod val="85000"/>
                    <a:lumOff val="15000"/>
                  </a:schemeClr>
                </a:solidFill>
                <a:latin typeface="Arial Black" panose="020B0A04020102020204" pitchFamily="34" charset="0"/>
                <a:cs typeface="Arial" pitchFamily="34" charset="0"/>
              </a:rPr>
              <a:t>GUIDE NAME: DR. D . SARVANAN </a:t>
            </a:r>
          </a:p>
          <a:p>
            <a:endParaRPr lang="en-US" sz="2400" dirty="0">
              <a:solidFill>
                <a:schemeClr val="tx1">
                  <a:lumMod val="85000"/>
                  <a:lumOff val="15000"/>
                </a:schemeClr>
              </a:solidFill>
              <a:latin typeface="Arial Black" panose="020B0A04020102020204" pitchFamily="34" charset="0"/>
              <a:cs typeface="Arial" pitchFamily="34" charset="0"/>
            </a:endParaRPr>
          </a:p>
          <a:p>
            <a:r>
              <a:rPr lang="en-US" sz="2400" dirty="0">
                <a:solidFill>
                  <a:schemeClr val="tx1">
                    <a:lumMod val="85000"/>
                    <a:lumOff val="15000"/>
                  </a:schemeClr>
                </a:solidFill>
                <a:latin typeface="Arial Black" panose="020B0A04020102020204" pitchFamily="34" charset="0"/>
                <a:cs typeface="Arial" pitchFamily="34" charset="0"/>
              </a:rPr>
              <a:t>STUDENT NAME : VENKATESWARAREDDY D </a:t>
            </a:r>
          </a:p>
          <a:p>
            <a:r>
              <a:rPr lang="en-US" sz="2400" dirty="0">
                <a:solidFill>
                  <a:schemeClr val="tx1">
                    <a:lumMod val="85000"/>
                    <a:lumOff val="15000"/>
                  </a:schemeClr>
                </a:solidFill>
                <a:latin typeface="Arial Black" panose="020B0A04020102020204" pitchFamily="34" charset="0"/>
                <a:cs typeface="Arial" pitchFamily="34" charset="0"/>
              </a:rPr>
              <a:t>REGSTER.NO:41111357,SECTION:E3</a:t>
            </a:r>
          </a:p>
          <a:p>
            <a:endParaRPr lang="en-GB" dirty="0">
              <a:solidFill>
                <a:schemeClr val="accent2">
                  <a:lumMod val="50000"/>
                </a:schemeClr>
              </a:solidFill>
            </a:endParaRPr>
          </a:p>
        </p:txBody>
      </p:sp>
      <p:pic>
        <p:nvPicPr>
          <p:cNvPr id="4" name="Picture 3" descr="HEADER New copy">
            <a:extLst>
              <a:ext uri="{FF2B5EF4-FFF2-40B4-BE49-F238E27FC236}">
                <a16:creationId xmlns:a16="http://schemas.microsoft.com/office/drawing/2014/main" id="{29E2CEAE-1573-4F9B-3915-261CA7482D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191371"/>
            <a:ext cx="9144000" cy="1538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5050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6BCF-ECBF-5577-7046-C8264395F36F}"/>
              </a:ext>
            </a:extLst>
          </p:cNvPr>
          <p:cNvSpPr>
            <a:spLocks noGrp="1"/>
          </p:cNvSpPr>
          <p:nvPr>
            <p:ph type="title"/>
          </p:nvPr>
        </p:nvSpPr>
        <p:spPr>
          <a:xfrm>
            <a:off x="4400550" y="0"/>
            <a:ext cx="4857750" cy="500063"/>
          </a:xfrm>
        </p:spPr>
        <p:txBody>
          <a:bodyPr>
            <a:normAutofit fontScale="90000"/>
          </a:bodyPr>
          <a:lstStyle/>
          <a:p>
            <a:r>
              <a:rPr lang="en-IN" dirty="0"/>
              <a:t>                         ABSTRACT</a:t>
            </a:r>
          </a:p>
        </p:txBody>
      </p:sp>
      <p:sp>
        <p:nvSpPr>
          <p:cNvPr id="3" name="Content Placeholder 2">
            <a:extLst>
              <a:ext uri="{FF2B5EF4-FFF2-40B4-BE49-F238E27FC236}">
                <a16:creationId xmlns:a16="http://schemas.microsoft.com/office/drawing/2014/main" id="{20B2C9F3-1B5B-F78E-18D8-CC479876CDCB}"/>
              </a:ext>
            </a:extLst>
          </p:cNvPr>
          <p:cNvSpPr>
            <a:spLocks noGrp="1"/>
          </p:cNvSpPr>
          <p:nvPr>
            <p:ph idx="1"/>
          </p:nvPr>
        </p:nvSpPr>
        <p:spPr>
          <a:xfrm>
            <a:off x="168812" y="984738"/>
            <a:ext cx="11489789" cy="5673237"/>
          </a:xfrm>
        </p:spPr>
        <p:txBody>
          <a:bodyPr>
            <a:normAutofit fontScale="55000" lnSpcReduction="20000"/>
          </a:bodyPr>
          <a:lstStyle/>
          <a:p>
            <a:pPr marL="0" indent="0">
              <a:lnSpc>
                <a:spcPct val="120000"/>
              </a:lnSpc>
              <a:spcBef>
                <a:spcPts val="1500"/>
              </a:spcBef>
              <a:spcAft>
                <a:spcPts val="1500"/>
              </a:spcAft>
              <a:buNone/>
            </a:pPr>
            <a:r>
              <a:rPr lang="en-ID" sz="3200" dirty="0">
                <a:solidFill>
                  <a:srgbClr val="374151"/>
                </a:solidFill>
                <a:effectLst/>
                <a:latin typeface="Segoe UI" panose="020B0502040204020203" pitchFamily="34" charset="0"/>
                <a:ea typeface="Times New Roman" panose="02020603050405020304" pitchFamily="18" charset="0"/>
              </a:rPr>
              <a:t>The Ionosphere dataset has been a subject of interest in the field of machine learning due to its challenging binary classification problem: distinguishing between "good" and "bad" radar returns when probing the Earth's ionosphere. In this project, we leverage the power of Random Forest, a robust ensemble learning technique, to tackle this problem and develop a predictive model.</a:t>
            </a:r>
            <a:endParaRPr lang="en-IN" sz="3200" dirty="0">
              <a:effectLst/>
              <a:latin typeface="Times New Roman" panose="02020603050405020304" pitchFamily="18" charset="0"/>
              <a:ea typeface="Times New Roman" panose="02020603050405020304" pitchFamily="18" charset="0"/>
            </a:endParaRPr>
          </a:p>
          <a:p>
            <a:pPr marL="0" indent="0">
              <a:lnSpc>
                <a:spcPct val="120000"/>
              </a:lnSpc>
              <a:spcBef>
                <a:spcPts val="1500"/>
              </a:spcBef>
              <a:spcAft>
                <a:spcPts val="1500"/>
              </a:spcAft>
              <a:buNone/>
            </a:pPr>
            <a:r>
              <a:rPr lang="en-ID" sz="3200" dirty="0">
                <a:solidFill>
                  <a:srgbClr val="374151"/>
                </a:solidFill>
                <a:effectLst/>
                <a:latin typeface="Segoe UI" panose="020B0502040204020203" pitchFamily="34" charset="0"/>
                <a:ea typeface="Times New Roman" panose="02020603050405020304" pitchFamily="18" charset="0"/>
              </a:rPr>
              <a:t>The ionosphere is a critical part of the Earth's atmosphere that plays a vital role in communication and navigation systems. Detecting anomalies or disruptions in the ionosphere is of paramount importance. However, manual analysis of radar returns is time-consuming and error-prone. Hence, the need for an accurate machine learning model arises.</a:t>
            </a:r>
          </a:p>
          <a:p>
            <a:pPr marL="0" indent="0">
              <a:lnSpc>
                <a:spcPct val="120000"/>
              </a:lnSpc>
              <a:spcBef>
                <a:spcPts val="1500"/>
              </a:spcBef>
              <a:spcAft>
                <a:spcPts val="1500"/>
              </a:spcAft>
              <a:buNone/>
            </a:pPr>
            <a:r>
              <a:rPr lang="en-ID" sz="3200" dirty="0">
                <a:solidFill>
                  <a:srgbClr val="374151"/>
                </a:solidFill>
                <a:effectLst/>
                <a:latin typeface="Segoe UI" panose="020B0502040204020203" pitchFamily="34" charset="0"/>
                <a:ea typeface="Calibri" panose="020F0502020204030204" pitchFamily="34" charset="0"/>
              </a:rPr>
              <a:t>We employ the Ionosphere dataset, which contains a diverse set of features derived from radar signals. Through data preprocessing, feature selection, and Random Forest </a:t>
            </a:r>
            <a:r>
              <a:rPr lang="en-ID" sz="3200" dirty="0" err="1">
                <a:solidFill>
                  <a:srgbClr val="374151"/>
                </a:solidFill>
                <a:effectLst/>
                <a:latin typeface="Segoe UI" panose="020B0502040204020203" pitchFamily="34" charset="0"/>
                <a:ea typeface="Calibri" panose="020F0502020204030204" pitchFamily="34" charset="0"/>
              </a:rPr>
              <a:t>modeling</a:t>
            </a:r>
            <a:r>
              <a:rPr lang="en-ID" sz="3200" dirty="0">
                <a:solidFill>
                  <a:srgbClr val="374151"/>
                </a:solidFill>
                <a:effectLst/>
                <a:latin typeface="Segoe UI" panose="020B0502040204020203" pitchFamily="34" charset="0"/>
                <a:ea typeface="Calibri" panose="020F0502020204030204" pitchFamily="34" charset="0"/>
              </a:rPr>
              <a:t>, we aim to create a classification model capable of accurately identifying ionosphere anomalies.</a:t>
            </a:r>
          </a:p>
          <a:p>
            <a:pPr marL="0" indent="0">
              <a:lnSpc>
                <a:spcPct val="120000"/>
              </a:lnSpc>
              <a:spcBef>
                <a:spcPts val="1500"/>
              </a:spcBef>
              <a:spcAft>
                <a:spcPts val="1500"/>
              </a:spcAft>
              <a:buNone/>
            </a:pPr>
            <a:r>
              <a:rPr lang="en-ID" sz="3200" dirty="0">
                <a:solidFill>
                  <a:srgbClr val="374151"/>
                </a:solidFill>
                <a:effectLst/>
                <a:latin typeface="Segoe UI" panose="020B0502040204020203" pitchFamily="34" charset="0"/>
                <a:ea typeface="Times New Roman" panose="02020603050405020304" pitchFamily="18" charset="0"/>
              </a:rPr>
              <a:t> The model's robustness is further validated through cross-validation techniques, ensuring its generalizability. The successful implementation of Random Forest in classifying ionosphere data not only provides a valuable tool for automated anomaly detection but also showcases the potential of machine learning in complex environmental monitoring tasks.</a:t>
            </a:r>
            <a:endParaRPr lang="en-IN" sz="3200" dirty="0">
              <a:effectLst/>
              <a:latin typeface="Times New Roman" panose="02020603050405020304" pitchFamily="18" charset="0"/>
              <a:ea typeface="Times New Roman" panose="02020603050405020304" pitchFamily="18" charset="0"/>
            </a:endParaRPr>
          </a:p>
          <a:p>
            <a:pPr>
              <a:spcBef>
                <a:spcPts val="1500"/>
              </a:spcBef>
              <a:spcAft>
                <a:spcPts val="1500"/>
              </a:spcAft>
            </a:pPr>
            <a:endParaRPr lang="en-IN" sz="2600" dirty="0">
              <a:effectLst/>
              <a:latin typeface="Times New Roman" panose="02020603050405020304" pitchFamily="18" charset="0"/>
              <a:ea typeface="Times New Roman" panose="02020603050405020304" pitchFamily="18" charset="0"/>
            </a:endParaRPr>
          </a:p>
          <a:p>
            <a:pPr marL="0" indent="0">
              <a:buNone/>
            </a:pPr>
            <a:endParaRPr lang="en-IN" sz="1400" dirty="0"/>
          </a:p>
        </p:txBody>
      </p:sp>
    </p:spTree>
    <p:extLst>
      <p:ext uri="{BB962C8B-B14F-4D97-AF65-F5344CB8AC3E}">
        <p14:creationId xmlns:p14="http://schemas.microsoft.com/office/powerpoint/2010/main" val="3773803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EDB2-0348-FBFB-3035-80A42319334D}"/>
              </a:ext>
            </a:extLst>
          </p:cNvPr>
          <p:cNvSpPr>
            <a:spLocks noGrp="1"/>
          </p:cNvSpPr>
          <p:nvPr>
            <p:ph type="title"/>
          </p:nvPr>
        </p:nvSpPr>
        <p:spPr>
          <a:xfrm>
            <a:off x="4321277" y="0"/>
            <a:ext cx="5429250" cy="226219"/>
          </a:xfrm>
        </p:spPr>
        <p:txBody>
          <a:bodyPr>
            <a:normAutofit fontScale="90000"/>
          </a:bodyPr>
          <a:lstStyle/>
          <a:p>
            <a:r>
              <a:rPr lang="en-IN" dirty="0"/>
              <a:t>                      INTRODUTION </a:t>
            </a:r>
          </a:p>
        </p:txBody>
      </p:sp>
      <p:sp>
        <p:nvSpPr>
          <p:cNvPr id="3" name="Content Placeholder 2">
            <a:extLst>
              <a:ext uri="{FF2B5EF4-FFF2-40B4-BE49-F238E27FC236}">
                <a16:creationId xmlns:a16="http://schemas.microsoft.com/office/drawing/2014/main" id="{265F9F5B-E0BA-7EAD-8F09-42DC9C45F58A}"/>
              </a:ext>
            </a:extLst>
          </p:cNvPr>
          <p:cNvSpPr>
            <a:spLocks noGrp="1"/>
          </p:cNvSpPr>
          <p:nvPr>
            <p:ph idx="1"/>
          </p:nvPr>
        </p:nvSpPr>
        <p:spPr>
          <a:xfrm>
            <a:off x="152400" y="565509"/>
            <a:ext cx="11887200" cy="6100762"/>
          </a:xfrm>
        </p:spPr>
        <p:txBody>
          <a:bodyPr>
            <a:normAutofit/>
          </a:bodyPr>
          <a:lstStyle/>
          <a:p>
            <a:pPr algn="l"/>
            <a:endParaRPr lang="en-GB" sz="2200" b="0" i="0" dirty="0">
              <a:solidFill>
                <a:srgbClr val="374151"/>
              </a:solidFill>
              <a:effectLst/>
              <a:latin typeface="Söhne"/>
            </a:endParaRPr>
          </a:p>
          <a:p>
            <a:pPr algn="l"/>
            <a:r>
              <a:rPr lang="en-GB" sz="2400" b="0" i="0" dirty="0">
                <a:solidFill>
                  <a:srgbClr val="374151"/>
                </a:solidFill>
                <a:effectLst/>
                <a:latin typeface="Söhne"/>
              </a:rPr>
              <a:t>In this project, our goal is to predict ionosphere anomalies using a Random Forest machine learning approach. The dataset we are working with was donated by Vince </a:t>
            </a:r>
            <a:r>
              <a:rPr lang="en-GB" sz="2400" b="0" i="0" dirty="0" err="1">
                <a:solidFill>
                  <a:srgbClr val="374151"/>
                </a:solidFill>
                <a:effectLst/>
                <a:latin typeface="Söhne"/>
              </a:rPr>
              <a:t>Sigillito</a:t>
            </a:r>
            <a:r>
              <a:rPr lang="en-GB" sz="2400" b="0" i="0" dirty="0">
                <a:solidFill>
                  <a:srgbClr val="374151"/>
                </a:solidFill>
                <a:effectLst/>
                <a:latin typeface="Söhne"/>
              </a:rPr>
              <a:t> and consists of radar returns from the ionosphere. It contains 351 instances with 34 continuous predictor attributes and a binary classification task where the 35th attribute indicates whether a return is "good" or "bad."</a:t>
            </a:r>
          </a:p>
          <a:p>
            <a:pPr algn="l"/>
            <a:endParaRPr lang="en-GB" sz="2400" b="0" i="0" dirty="0">
              <a:solidFill>
                <a:srgbClr val="374151"/>
              </a:solidFill>
              <a:effectLst/>
              <a:latin typeface="Söhne"/>
            </a:endParaRPr>
          </a:p>
          <a:p>
            <a:pPr algn="l"/>
            <a:r>
              <a:rPr lang="en-GB" sz="2400" b="0" i="0" dirty="0">
                <a:solidFill>
                  <a:srgbClr val="374151"/>
                </a:solidFill>
                <a:effectLst/>
                <a:latin typeface="Söhne"/>
              </a:rPr>
              <a:t>In this project, our goal is to predict ionosphere anomalies using a Random Forest machine learning approach. The dataset we are working with was donated by Vince </a:t>
            </a:r>
            <a:r>
              <a:rPr lang="en-GB" sz="2400" b="0" i="0" dirty="0" err="1">
                <a:solidFill>
                  <a:srgbClr val="374151"/>
                </a:solidFill>
                <a:effectLst/>
                <a:latin typeface="Söhne"/>
              </a:rPr>
              <a:t>Sigillito</a:t>
            </a:r>
            <a:r>
              <a:rPr lang="en-GB" sz="2400" b="0" i="0" dirty="0">
                <a:solidFill>
                  <a:srgbClr val="374151"/>
                </a:solidFill>
                <a:effectLst/>
                <a:latin typeface="Söhne"/>
              </a:rPr>
              <a:t> and consists of radar returns from the ionosphere. It contains 351 instances with 34 continuous predictor attributes and a binary classification task where the 35th attribute indicates whether a return is "good" or "bad."</a:t>
            </a:r>
          </a:p>
          <a:p>
            <a:pPr algn="l"/>
            <a:r>
              <a:rPr lang="en-GB" sz="2400" b="0" i="0" dirty="0">
                <a:solidFill>
                  <a:srgbClr val="374151"/>
                </a:solidFill>
                <a:effectLst/>
                <a:latin typeface="Söhne"/>
              </a:rPr>
              <a:t>For our machine learning model, we choose the Random Forest classifier, known for its robustness and ability to handle complex data. We train the Random Forest model on the training data and evaluate its performance using metrics such as accuracy, precision, recall, and F1-score.</a:t>
            </a:r>
          </a:p>
          <a:p>
            <a:pPr marL="0" indent="0">
              <a:buNone/>
            </a:pPr>
            <a:endParaRPr lang="en-GB" sz="2200" b="0" i="0" dirty="0">
              <a:solidFill>
                <a:srgbClr val="374151"/>
              </a:solidFill>
              <a:effectLst/>
              <a:latin typeface="Söhne"/>
            </a:endParaRPr>
          </a:p>
        </p:txBody>
      </p:sp>
    </p:spTree>
    <p:extLst>
      <p:ext uri="{BB962C8B-B14F-4D97-AF65-F5344CB8AC3E}">
        <p14:creationId xmlns:p14="http://schemas.microsoft.com/office/powerpoint/2010/main" val="1172272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3083E-1BD0-8E22-0BE2-B08641118579}"/>
              </a:ext>
            </a:extLst>
          </p:cNvPr>
          <p:cNvSpPr>
            <a:spLocks noGrp="1"/>
          </p:cNvSpPr>
          <p:nvPr>
            <p:ph type="title"/>
          </p:nvPr>
        </p:nvSpPr>
        <p:spPr>
          <a:xfrm>
            <a:off x="4176515" y="430453"/>
            <a:ext cx="3153852" cy="600075"/>
          </a:xfrm>
        </p:spPr>
        <p:txBody>
          <a:bodyPr>
            <a:normAutofit/>
          </a:bodyPr>
          <a:lstStyle/>
          <a:p>
            <a:r>
              <a:rPr lang="en-IN" sz="3600" dirty="0"/>
              <a:t>INTRODUCTON</a:t>
            </a:r>
          </a:p>
        </p:txBody>
      </p:sp>
      <p:sp>
        <p:nvSpPr>
          <p:cNvPr id="4" name="Rectangle 1">
            <a:extLst>
              <a:ext uri="{FF2B5EF4-FFF2-40B4-BE49-F238E27FC236}">
                <a16:creationId xmlns:a16="http://schemas.microsoft.com/office/drawing/2014/main" id="{F171E3E8-7B42-5CF3-4F78-47F4AD39311E}"/>
              </a:ext>
            </a:extLst>
          </p:cNvPr>
          <p:cNvSpPr>
            <a:spLocks noGrp="1" noChangeArrowheads="1"/>
          </p:cNvSpPr>
          <p:nvPr>
            <p:ph idx="1"/>
          </p:nvPr>
        </p:nvSpPr>
        <p:spPr bwMode="auto">
          <a:xfrm>
            <a:off x="168811" y="1327040"/>
            <a:ext cx="11873133" cy="5425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lumMod val="75000"/>
                    <a:lumOff val="25000"/>
                  </a:schemeClr>
                </a:solidFill>
                <a:effectLst/>
                <a:latin typeface="Söhne"/>
              </a:rPr>
              <a:t>Optionally, if needed, we can perform hyperparameter tuning to optimize the model's performance. Once our model is well-trained, we proceed to use it for anomaly detection on the test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lumMod val="75000"/>
                    <a:lumOff val="25000"/>
                  </a:schemeClr>
                </a:solidFill>
                <a:effectLst/>
                <a:latin typeface="Söhne"/>
              </a:rPr>
              <a:t>To gain insights and interpret the results, we analyze the model's predictions and its ability to classify "good" and "bad" radar returns. Visualizations can also be created to aid in result interpretation.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lumMod val="75000"/>
                    <a:lumOff val="25000"/>
                  </a:schemeClr>
                </a:solidFill>
                <a:effectLst/>
                <a:latin typeface="Söhne"/>
              </a:rPr>
              <a:t>Finally, we thoroughly document our findings, including model performance and any valuable insights gained throughout the project. In conclusion, this project aims to demonstrate the effectiveness of Random Forest in predicting ionosphere anomalies and provides a clear path for achieving this objective.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chemeClr val="tx1">
                    <a:lumMod val="75000"/>
                    <a:lumOff val="25000"/>
                  </a:schemeClr>
                </a:solidFill>
                <a:effectLst/>
                <a:latin typeface="Söhne"/>
              </a:rPr>
            </a:br>
            <a:endParaRPr kumimoji="0" lang="en-US" altLang="en-US" b="0" i="0" u="none" strike="noStrike" cap="none" normalizeH="0" baseline="0" dirty="0">
              <a:ln>
                <a:noFill/>
              </a:ln>
              <a:solidFill>
                <a:schemeClr val="tx1">
                  <a:lumMod val="75000"/>
                  <a:lumOff val="25000"/>
                </a:schemeClr>
              </a:solidFill>
              <a:effectLst/>
              <a:latin typeface="Arial" panose="020B0604020202020204" pitchFamily="34" charset="0"/>
            </a:endParaRPr>
          </a:p>
        </p:txBody>
      </p:sp>
    </p:spTree>
    <p:extLst>
      <p:ext uri="{BB962C8B-B14F-4D97-AF65-F5344CB8AC3E}">
        <p14:creationId xmlns:p14="http://schemas.microsoft.com/office/powerpoint/2010/main" val="290636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1EC53-7DAD-8D99-6141-903313626882}"/>
              </a:ext>
            </a:extLst>
          </p:cNvPr>
          <p:cNvSpPr>
            <a:spLocks noGrp="1"/>
          </p:cNvSpPr>
          <p:nvPr>
            <p:ph type="title"/>
          </p:nvPr>
        </p:nvSpPr>
        <p:spPr>
          <a:xfrm>
            <a:off x="4262510" y="365125"/>
            <a:ext cx="7091289" cy="436733"/>
          </a:xfrm>
        </p:spPr>
        <p:txBody>
          <a:bodyPr>
            <a:normAutofit fontScale="90000"/>
          </a:bodyPr>
          <a:lstStyle/>
          <a:p>
            <a:r>
              <a:rPr lang="en-IN" dirty="0"/>
              <a:t>OBJECTIVES</a:t>
            </a:r>
          </a:p>
        </p:txBody>
      </p:sp>
      <p:sp>
        <p:nvSpPr>
          <p:cNvPr id="3" name="Content Placeholder 2">
            <a:extLst>
              <a:ext uri="{FF2B5EF4-FFF2-40B4-BE49-F238E27FC236}">
                <a16:creationId xmlns:a16="http://schemas.microsoft.com/office/drawing/2014/main" id="{F0EEEDEE-C325-0357-242F-2CD99C9E0FB2}"/>
              </a:ext>
            </a:extLst>
          </p:cNvPr>
          <p:cNvSpPr>
            <a:spLocks noGrp="1"/>
          </p:cNvSpPr>
          <p:nvPr>
            <p:ph idx="1"/>
          </p:nvPr>
        </p:nvSpPr>
        <p:spPr>
          <a:xfrm>
            <a:off x="0" y="1150376"/>
            <a:ext cx="12192000" cy="5707624"/>
          </a:xfrm>
        </p:spPr>
        <p:txBody>
          <a:bodyPr/>
          <a:lstStyle/>
          <a:p>
            <a:pPr algn="l">
              <a:buFont typeface="+mj-lt"/>
              <a:buAutoNum type="arabicPeriod"/>
            </a:pPr>
            <a:r>
              <a:rPr lang="en-GB" b="1" i="0" dirty="0">
                <a:solidFill>
                  <a:srgbClr val="374151"/>
                </a:solidFill>
                <a:effectLst/>
                <a:latin typeface="Söhne"/>
              </a:rPr>
              <a:t>Anomaly Detection</a:t>
            </a:r>
            <a:r>
              <a:rPr lang="en-GB" b="0" i="0" dirty="0">
                <a:solidFill>
                  <a:srgbClr val="374151"/>
                </a:solidFill>
                <a:effectLst/>
                <a:latin typeface="Söhne"/>
              </a:rPr>
              <a:t>: The primary objective is to develop an effective machine learning model based on Random Forest to detect anomalies in ionosphere radar data accurately.</a:t>
            </a:r>
          </a:p>
          <a:p>
            <a:pPr algn="l">
              <a:buFont typeface="+mj-lt"/>
              <a:buAutoNum type="arabicPeriod"/>
            </a:pPr>
            <a:r>
              <a:rPr lang="en-GB" b="1" i="0" dirty="0">
                <a:solidFill>
                  <a:srgbClr val="374151"/>
                </a:solidFill>
                <a:effectLst/>
                <a:latin typeface="Söhne"/>
              </a:rPr>
              <a:t>High Accuracy</a:t>
            </a:r>
            <a:r>
              <a:rPr lang="en-GB" b="0" i="0" dirty="0">
                <a:solidFill>
                  <a:srgbClr val="374151"/>
                </a:solidFill>
                <a:effectLst/>
                <a:latin typeface="Söhne"/>
              </a:rPr>
              <a:t>: Achieve a high level of prediction accuracy, surpassing existing methods, to reliably classify radar returns as "good" or "bad."</a:t>
            </a:r>
          </a:p>
          <a:p>
            <a:pPr algn="l">
              <a:buFont typeface="+mj-lt"/>
              <a:buAutoNum type="arabicPeriod"/>
            </a:pPr>
            <a:r>
              <a:rPr lang="en-GB" b="1" i="0" dirty="0">
                <a:solidFill>
                  <a:srgbClr val="374151"/>
                </a:solidFill>
                <a:effectLst/>
                <a:latin typeface="Söhne"/>
              </a:rPr>
              <a:t>Feature Engineering</a:t>
            </a:r>
            <a:r>
              <a:rPr lang="en-GB" b="0" i="0" dirty="0">
                <a:solidFill>
                  <a:srgbClr val="374151"/>
                </a:solidFill>
                <a:effectLst/>
                <a:latin typeface="Söhne"/>
              </a:rPr>
              <a:t>: Improve model performance through advanced feature selection and preprocessing techniques for radar data.</a:t>
            </a:r>
          </a:p>
          <a:p>
            <a:pPr algn="l">
              <a:buFont typeface="+mj-lt"/>
              <a:buAutoNum type="arabicPeriod"/>
            </a:pPr>
            <a:r>
              <a:rPr lang="en-GB" b="1" i="0" dirty="0">
                <a:solidFill>
                  <a:srgbClr val="374151"/>
                </a:solidFill>
                <a:effectLst/>
                <a:latin typeface="Söhne"/>
              </a:rPr>
              <a:t>Model Generalization</a:t>
            </a:r>
            <a:r>
              <a:rPr lang="en-GB" b="0" i="0" dirty="0">
                <a:solidFill>
                  <a:srgbClr val="374151"/>
                </a:solidFill>
                <a:effectLst/>
                <a:latin typeface="Söhne"/>
              </a:rPr>
              <a:t>: Ensure the model generalizes well to new data, addressing overfitting concerns and making it suitable for practical applications.</a:t>
            </a:r>
          </a:p>
          <a:p>
            <a:pPr algn="l">
              <a:buFont typeface="+mj-lt"/>
              <a:buAutoNum type="arabicPeriod"/>
            </a:pPr>
            <a:r>
              <a:rPr lang="en-GB" b="1" i="0" dirty="0">
                <a:solidFill>
                  <a:srgbClr val="374151"/>
                </a:solidFill>
                <a:effectLst/>
                <a:latin typeface="Söhne"/>
              </a:rPr>
              <a:t>Real-World Applicability</a:t>
            </a:r>
            <a:r>
              <a:rPr lang="en-GB" b="0" i="0" dirty="0">
                <a:solidFill>
                  <a:srgbClr val="374151"/>
                </a:solidFill>
                <a:effectLst/>
                <a:latin typeface="Söhne"/>
              </a:rPr>
              <a:t>: Demonstrate the practical use of the Random Forest-based anomaly detection model in scenarios like space weather monitoring and communication interference detection.</a:t>
            </a:r>
          </a:p>
          <a:p>
            <a:endParaRPr lang="en-IN" dirty="0"/>
          </a:p>
        </p:txBody>
      </p:sp>
    </p:spTree>
    <p:extLst>
      <p:ext uri="{BB962C8B-B14F-4D97-AF65-F5344CB8AC3E}">
        <p14:creationId xmlns:p14="http://schemas.microsoft.com/office/powerpoint/2010/main" val="208496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5C5F9-E5AF-02AE-E245-6B578EBD05E5}"/>
              </a:ext>
            </a:extLst>
          </p:cNvPr>
          <p:cNvSpPr>
            <a:spLocks noGrp="1"/>
          </p:cNvSpPr>
          <p:nvPr>
            <p:ph type="title"/>
          </p:nvPr>
        </p:nvSpPr>
        <p:spPr>
          <a:xfrm>
            <a:off x="4121834" y="1"/>
            <a:ext cx="7231965" cy="984737"/>
          </a:xfrm>
        </p:spPr>
        <p:txBody>
          <a:bodyPr/>
          <a:lstStyle/>
          <a:p>
            <a:r>
              <a:rPr lang="en-IN" dirty="0"/>
              <a:t>OBJECTION </a:t>
            </a:r>
          </a:p>
        </p:txBody>
      </p:sp>
      <p:sp>
        <p:nvSpPr>
          <p:cNvPr id="3" name="Content Placeholder 2">
            <a:extLst>
              <a:ext uri="{FF2B5EF4-FFF2-40B4-BE49-F238E27FC236}">
                <a16:creationId xmlns:a16="http://schemas.microsoft.com/office/drawing/2014/main" id="{645D8BAF-C318-A50F-AF25-BE88471D2871}"/>
              </a:ext>
            </a:extLst>
          </p:cNvPr>
          <p:cNvSpPr>
            <a:spLocks noGrp="1"/>
          </p:cNvSpPr>
          <p:nvPr>
            <p:ph idx="1"/>
          </p:nvPr>
        </p:nvSpPr>
        <p:spPr>
          <a:xfrm>
            <a:off x="0" y="984738"/>
            <a:ext cx="12192000" cy="5873261"/>
          </a:xfrm>
        </p:spPr>
        <p:txBody>
          <a:bodyPr>
            <a:normAutofit fontScale="92500" lnSpcReduction="10000"/>
          </a:bodyPr>
          <a:lstStyle/>
          <a:p>
            <a:pPr marL="0" indent="0">
              <a:lnSpc>
                <a:spcPct val="100000"/>
              </a:lnSpc>
              <a:buNone/>
            </a:pPr>
            <a:r>
              <a:rPr lang="en-GB" b="1" i="0" dirty="0">
                <a:solidFill>
                  <a:srgbClr val="374151"/>
                </a:solidFill>
                <a:effectLst/>
                <a:latin typeface="Söhne"/>
              </a:rPr>
              <a:t>6</a:t>
            </a:r>
            <a:r>
              <a:rPr lang="en-GB" sz="2800" b="1" i="0" dirty="0">
                <a:solidFill>
                  <a:srgbClr val="374151"/>
                </a:solidFill>
                <a:effectLst/>
                <a:latin typeface="Söhne"/>
              </a:rPr>
              <a:t>.Comparison with Other Algorithms</a:t>
            </a:r>
            <a:r>
              <a:rPr lang="en-GB" sz="2800" b="0" i="0" dirty="0">
                <a:solidFill>
                  <a:srgbClr val="374151"/>
                </a:solidFill>
                <a:effectLst/>
                <a:latin typeface="Söhne"/>
              </a:rPr>
              <a:t>: Evaluate Random Forest's performance                         against other machine learning algorithms for ionosphere anomaly prediction.</a:t>
            </a:r>
          </a:p>
          <a:p>
            <a:pPr marL="0" indent="0" algn="l">
              <a:buNone/>
            </a:pPr>
            <a:r>
              <a:rPr lang="en-GB" sz="2800" b="1" i="0" dirty="0">
                <a:solidFill>
                  <a:srgbClr val="374151"/>
                </a:solidFill>
                <a:effectLst/>
                <a:latin typeface="Söhne"/>
              </a:rPr>
              <a:t>7.Interdisciplinary Collaboration</a:t>
            </a:r>
            <a:r>
              <a:rPr lang="en-GB" sz="2800" b="0" i="0" dirty="0">
                <a:solidFill>
                  <a:srgbClr val="374151"/>
                </a:solidFill>
                <a:effectLst/>
                <a:latin typeface="Söhne"/>
              </a:rPr>
              <a:t>: Collaborate across domains, involving experts in machine learning, space physics, and signal processing to enhance the model's effectiveness.</a:t>
            </a:r>
          </a:p>
          <a:p>
            <a:pPr marL="0" indent="0" algn="l">
              <a:buNone/>
            </a:pPr>
            <a:r>
              <a:rPr lang="en-GB" sz="2800" b="1" i="0" dirty="0">
                <a:solidFill>
                  <a:srgbClr val="374151"/>
                </a:solidFill>
                <a:effectLst/>
                <a:latin typeface="Söhne"/>
              </a:rPr>
              <a:t>8.Noise Handling</a:t>
            </a:r>
            <a:r>
              <a:rPr lang="en-GB" sz="2800" b="0" i="0" dirty="0">
                <a:solidFill>
                  <a:srgbClr val="374151"/>
                </a:solidFill>
                <a:effectLst/>
                <a:latin typeface="Söhne"/>
              </a:rPr>
              <a:t>: Develop strategies to effectively handle noisy or incomplete radar data, improving model robustness.</a:t>
            </a:r>
          </a:p>
          <a:p>
            <a:pPr marL="0" indent="0" algn="l">
              <a:buNone/>
            </a:pPr>
            <a:r>
              <a:rPr lang="en-GB" sz="2800" b="1" i="0" dirty="0">
                <a:solidFill>
                  <a:srgbClr val="374151"/>
                </a:solidFill>
                <a:effectLst/>
                <a:latin typeface="Söhne"/>
              </a:rPr>
              <a:t>9.Future Research Directions</a:t>
            </a:r>
            <a:r>
              <a:rPr lang="en-GB" sz="2800" b="0" i="0" dirty="0">
                <a:solidFill>
                  <a:srgbClr val="374151"/>
                </a:solidFill>
                <a:effectLst/>
                <a:latin typeface="Söhne"/>
              </a:rPr>
              <a:t>: Identify areas for future research, including exploring ensemble methods, deep learning, and additional data sources to enhance predictions.</a:t>
            </a:r>
          </a:p>
          <a:p>
            <a:pPr marL="0" indent="0" algn="l">
              <a:buNone/>
            </a:pPr>
            <a:r>
              <a:rPr lang="en-GB" sz="2800" b="1" i="0" dirty="0">
                <a:solidFill>
                  <a:srgbClr val="374151"/>
                </a:solidFill>
                <a:effectLst/>
                <a:latin typeface="Söhne"/>
              </a:rPr>
              <a:t>10.Documentation and Reporting</a:t>
            </a:r>
            <a:r>
              <a:rPr lang="en-GB" sz="2800" b="0" i="0" dirty="0">
                <a:solidFill>
                  <a:srgbClr val="374151"/>
                </a:solidFill>
                <a:effectLst/>
                <a:latin typeface="Söhne"/>
              </a:rPr>
              <a:t>: Thoroughly document the research process, from data preprocessing to model development, to provide a valuable reference for future studies and practical implementations.</a:t>
            </a:r>
          </a:p>
          <a:p>
            <a:r>
              <a:rPr lang="en-GB" b="0" i="0" dirty="0">
                <a:solidFill>
                  <a:srgbClr val="374151"/>
                </a:solidFill>
                <a:effectLst/>
                <a:latin typeface="Söhne"/>
              </a:rPr>
              <a:t>These objectives collectively aim to advance the field of ionosphere anomaly prediction, contribute to real-world applications, and provide insights for future research directions.</a:t>
            </a:r>
            <a:endParaRPr lang="en-IN" dirty="0"/>
          </a:p>
          <a:p>
            <a:endParaRPr lang="en-IN" dirty="0"/>
          </a:p>
        </p:txBody>
      </p:sp>
    </p:spTree>
    <p:extLst>
      <p:ext uri="{BB962C8B-B14F-4D97-AF65-F5344CB8AC3E}">
        <p14:creationId xmlns:p14="http://schemas.microsoft.com/office/powerpoint/2010/main" val="2165590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D8D36-7D11-1E41-B7F4-DCEE0080A227}"/>
              </a:ext>
            </a:extLst>
          </p:cNvPr>
          <p:cNvSpPr>
            <a:spLocks noGrp="1"/>
          </p:cNvSpPr>
          <p:nvPr>
            <p:ph type="title"/>
          </p:nvPr>
        </p:nvSpPr>
        <p:spPr>
          <a:xfrm>
            <a:off x="3460652" y="281355"/>
            <a:ext cx="3981157" cy="745587"/>
          </a:xfrm>
        </p:spPr>
        <p:txBody>
          <a:bodyPr/>
          <a:lstStyle/>
          <a:p>
            <a:r>
              <a:rPr lang="en-IN" dirty="0"/>
              <a:t>SCOPE OF WORK</a:t>
            </a:r>
          </a:p>
        </p:txBody>
      </p:sp>
      <p:sp>
        <p:nvSpPr>
          <p:cNvPr id="3" name="Content Placeholder 2">
            <a:extLst>
              <a:ext uri="{FF2B5EF4-FFF2-40B4-BE49-F238E27FC236}">
                <a16:creationId xmlns:a16="http://schemas.microsoft.com/office/drawing/2014/main" id="{56337AF0-51D8-027A-3D77-598267C66223}"/>
              </a:ext>
            </a:extLst>
          </p:cNvPr>
          <p:cNvSpPr>
            <a:spLocks noGrp="1"/>
          </p:cNvSpPr>
          <p:nvPr>
            <p:ph idx="1"/>
          </p:nvPr>
        </p:nvSpPr>
        <p:spPr>
          <a:xfrm>
            <a:off x="1" y="815926"/>
            <a:ext cx="12192000" cy="6042074"/>
          </a:xfrm>
        </p:spPr>
        <p:txBody>
          <a:bodyPr>
            <a:normAutofit fontScale="55000" lnSpcReduction="20000"/>
          </a:bodyPr>
          <a:lstStyle/>
          <a:p>
            <a:pPr algn="l">
              <a:buFont typeface="+mj-lt"/>
              <a:buAutoNum type="arabicPeriod"/>
            </a:pPr>
            <a:r>
              <a:rPr lang="en-GB" sz="2500" b="1" i="0" dirty="0">
                <a:solidFill>
                  <a:srgbClr val="374151"/>
                </a:solidFill>
                <a:effectLst/>
                <a:latin typeface="Söhne"/>
              </a:rPr>
              <a:t>Data Collection:</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Gather the Ionosphere dataset from the provided source.</a:t>
            </a:r>
          </a:p>
          <a:p>
            <a:pPr marL="742950" lvl="1" indent="-285750" algn="l">
              <a:buFont typeface="+mj-lt"/>
              <a:buAutoNum type="arabicPeriod"/>
            </a:pPr>
            <a:r>
              <a:rPr lang="en-GB" sz="2500" b="0" i="0" dirty="0">
                <a:solidFill>
                  <a:srgbClr val="374151"/>
                </a:solidFill>
                <a:effectLst/>
                <a:latin typeface="Söhne"/>
              </a:rPr>
              <a:t>Ensure data integrity and suitability for analysis.</a:t>
            </a:r>
          </a:p>
          <a:p>
            <a:pPr marL="742950" lvl="1" indent="-285750" algn="l">
              <a:buFont typeface="+mj-lt"/>
              <a:buAutoNum type="arabicPeriod"/>
            </a:pPr>
            <a:r>
              <a:rPr lang="en-GB" sz="2500" b="0" i="0" dirty="0">
                <a:solidFill>
                  <a:srgbClr val="374151"/>
                </a:solidFill>
                <a:effectLst/>
                <a:latin typeface="Söhne"/>
              </a:rPr>
              <a:t>Document the data collection process and sources.</a:t>
            </a:r>
          </a:p>
          <a:p>
            <a:pPr algn="l">
              <a:buFont typeface="+mj-lt"/>
              <a:buAutoNum type="arabicPeriod"/>
            </a:pPr>
            <a:r>
              <a:rPr lang="en-GB" sz="2500" b="1" i="0" dirty="0">
                <a:solidFill>
                  <a:srgbClr val="374151"/>
                </a:solidFill>
                <a:effectLst/>
                <a:latin typeface="Söhne"/>
              </a:rPr>
              <a:t>Data Preprocessing:</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Explore and visualize the dataset to understand its characteristics.</a:t>
            </a:r>
          </a:p>
          <a:p>
            <a:pPr marL="742950" lvl="1" indent="-285750" algn="l">
              <a:buFont typeface="+mj-lt"/>
              <a:buAutoNum type="arabicPeriod"/>
            </a:pPr>
            <a:r>
              <a:rPr lang="en-GB" sz="2500" b="0" i="0" dirty="0">
                <a:solidFill>
                  <a:srgbClr val="374151"/>
                </a:solidFill>
                <a:effectLst/>
                <a:latin typeface="Söhne"/>
              </a:rPr>
              <a:t>Handle missing values, outliers, and any data inconsistencies.</a:t>
            </a:r>
          </a:p>
          <a:p>
            <a:pPr marL="742950" lvl="1" indent="-285750" algn="l">
              <a:buFont typeface="+mj-lt"/>
              <a:buAutoNum type="arabicPeriod"/>
            </a:pPr>
            <a:r>
              <a:rPr lang="en-GB" sz="2500" b="0" i="0" dirty="0">
                <a:solidFill>
                  <a:srgbClr val="374151"/>
                </a:solidFill>
                <a:effectLst/>
                <a:latin typeface="Söhne"/>
              </a:rPr>
              <a:t>Normalize or scale features as required.</a:t>
            </a:r>
          </a:p>
          <a:p>
            <a:pPr marL="742950" lvl="1" indent="-285750" algn="l">
              <a:buFont typeface="+mj-lt"/>
              <a:buAutoNum type="arabicPeriod"/>
            </a:pPr>
            <a:r>
              <a:rPr lang="en-GB" sz="2500" b="0" i="0" dirty="0">
                <a:solidFill>
                  <a:srgbClr val="374151"/>
                </a:solidFill>
                <a:effectLst/>
                <a:latin typeface="Söhne"/>
              </a:rPr>
              <a:t>Encode categorical variables if present.</a:t>
            </a:r>
          </a:p>
          <a:p>
            <a:pPr marL="742950" lvl="1" indent="-285750" algn="l">
              <a:buFont typeface="+mj-lt"/>
              <a:buAutoNum type="arabicPeriod"/>
            </a:pPr>
            <a:r>
              <a:rPr lang="en-GB" sz="2500" b="0" i="0" dirty="0">
                <a:solidFill>
                  <a:srgbClr val="374151"/>
                </a:solidFill>
                <a:effectLst/>
                <a:latin typeface="Söhne"/>
              </a:rPr>
              <a:t>Document data preprocessing steps.</a:t>
            </a:r>
          </a:p>
          <a:p>
            <a:pPr algn="l">
              <a:buFont typeface="+mj-lt"/>
              <a:buAutoNum type="arabicPeriod"/>
            </a:pPr>
            <a:r>
              <a:rPr lang="en-GB" sz="2500" b="1" i="0" dirty="0">
                <a:solidFill>
                  <a:srgbClr val="374151"/>
                </a:solidFill>
                <a:effectLst/>
                <a:latin typeface="Söhne"/>
              </a:rPr>
              <a:t>Data Splitting:</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Split the dataset into training and testing subsets.</a:t>
            </a:r>
          </a:p>
          <a:p>
            <a:pPr marL="742950" lvl="1" indent="-285750" algn="l">
              <a:buFont typeface="+mj-lt"/>
              <a:buAutoNum type="arabicPeriod"/>
            </a:pPr>
            <a:r>
              <a:rPr lang="en-GB" sz="2500" b="0" i="0" dirty="0">
                <a:solidFill>
                  <a:srgbClr val="374151"/>
                </a:solidFill>
                <a:effectLst/>
                <a:latin typeface="Söhne"/>
              </a:rPr>
              <a:t>Ensure a balanced representation of "good" and "bad" classes in both sets.</a:t>
            </a:r>
          </a:p>
          <a:p>
            <a:pPr marL="742950" lvl="1" indent="-285750" algn="l">
              <a:buFont typeface="+mj-lt"/>
              <a:buAutoNum type="arabicPeriod"/>
            </a:pPr>
            <a:r>
              <a:rPr lang="en-GB" sz="2500" b="0" i="0" dirty="0">
                <a:solidFill>
                  <a:srgbClr val="374151"/>
                </a:solidFill>
                <a:effectLst/>
                <a:latin typeface="Söhne"/>
              </a:rPr>
              <a:t>Use stratified sampling or other techniques for balanced splitting.</a:t>
            </a:r>
          </a:p>
          <a:p>
            <a:pPr algn="l">
              <a:buFont typeface="+mj-lt"/>
              <a:buAutoNum type="arabicPeriod"/>
            </a:pPr>
            <a:r>
              <a:rPr lang="en-GB" sz="2500" b="1" i="0" dirty="0">
                <a:solidFill>
                  <a:srgbClr val="374151"/>
                </a:solidFill>
                <a:effectLst/>
                <a:latin typeface="Söhne"/>
              </a:rPr>
              <a:t>Model Building:</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Implement a Random Forest classifier using appropriate libraries (e.g., scikit-learn).</a:t>
            </a:r>
          </a:p>
          <a:p>
            <a:pPr marL="742950" lvl="1" indent="-285750" algn="l">
              <a:buFont typeface="+mj-lt"/>
              <a:buAutoNum type="arabicPeriod"/>
            </a:pPr>
            <a:r>
              <a:rPr lang="en-GB" sz="2500" b="0" i="0" dirty="0">
                <a:solidFill>
                  <a:srgbClr val="374151"/>
                </a:solidFill>
                <a:effectLst/>
                <a:latin typeface="Söhne"/>
              </a:rPr>
              <a:t>Train the Random Forest model on the training dataset.</a:t>
            </a:r>
          </a:p>
          <a:p>
            <a:pPr marL="742950" lvl="1" indent="-285750" algn="l">
              <a:buFont typeface="+mj-lt"/>
              <a:buAutoNum type="arabicPeriod"/>
            </a:pPr>
            <a:r>
              <a:rPr lang="en-GB" sz="2500" b="0" i="0" dirty="0">
                <a:solidFill>
                  <a:srgbClr val="374151"/>
                </a:solidFill>
                <a:effectLst/>
                <a:latin typeface="Söhne"/>
              </a:rPr>
              <a:t>Tune hyperparameters (e.g., number of trees, maximum depth) for optimal performance.</a:t>
            </a:r>
          </a:p>
          <a:p>
            <a:pPr algn="l">
              <a:buFont typeface="+mj-lt"/>
              <a:buAutoNum type="arabicPeriod"/>
            </a:pPr>
            <a:r>
              <a:rPr lang="en-GB" sz="2500" b="1" i="0" dirty="0">
                <a:solidFill>
                  <a:srgbClr val="374151"/>
                </a:solidFill>
                <a:effectLst/>
                <a:latin typeface="Söhne"/>
              </a:rPr>
              <a:t>Model Evaluation:</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Evaluate the Random Forest model's performance using various metrics (accuracy, precision, recall, F1-score, ROC AUC).</a:t>
            </a:r>
          </a:p>
          <a:p>
            <a:pPr marL="742950" lvl="1" indent="-285750" algn="l">
              <a:buFont typeface="+mj-lt"/>
              <a:buAutoNum type="arabicPeriod"/>
            </a:pPr>
            <a:r>
              <a:rPr lang="en-GB" sz="2500" b="0" i="0" dirty="0">
                <a:solidFill>
                  <a:srgbClr val="374151"/>
                </a:solidFill>
                <a:effectLst/>
                <a:latin typeface="Söhne"/>
              </a:rPr>
              <a:t>Create visualizations such as confusion matrices and ROC curves for analysis.</a:t>
            </a:r>
          </a:p>
          <a:p>
            <a:pPr marL="742950" lvl="1" indent="-285750" algn="l">
              <a:buFont typeface="+mj-lt"/>
              <a:buAutoNum type="arabicPeriod"/>
            </a:pPr>
            <a:r>
              <a:rPr lang="en-GB" sz="2500" b="0" i="0" dirty="0">
                <a:solidFill>
                  <a:srgbClr val="374151"/>
                </a:solidFill>
                <a:effectLst/>
                <a:latin typeface="Söhne"/>
              </a:rPr>
              <a:t>Assess the model's generalization on the testing dataset.</a:t>
            </a:r>
          </a:p>
          <a:p>
            <a:pPr algn="l">
              <a:buFont typeface="+mj-lt"/>
              <a:buAutoNum type="arabicPeriod"/>
            </a:pPr>
            <a:r>
              <a:rPr lang="en-GB" sz="2500" b="1" i="0" dirty="0">
                <a:solidFill>
                  <a:srgbClr val="374151"/>
                </a:solidFill>
                <a:effectLst/>
                <a:latin typeface="Söhne"/>
              </a:rPr>
              <a:t>Anomaly Detection Threshold (If Applicable):</a:t>
            </a:r>
            <a:endParaRPr lang="en-GB" sz="2500" b="0" i="0" dirty="0">
              <a:solidFill>
                <a:srgbClr val="374151"/>
              </a:solidFill>
              <a:effectLst/>
              <a:latin typeface="Söhne"/>
            </a:endParaRPr>
          </a:p>
          <a:p>
            <a:pPr marL="742950" lvl="1" indent="-285750" algn="l">
              <a:buFont typeface="+mj-lt"/>
              <a:buAutoNum type="arabicPeriod"/>
            </a:pPr>
            <a:r>
              <a:rPr lang="en-GB" sz="2500" b="0" i="0" dirty="0">
                <a:solidFill>
                  <a:srgbClr val="374151"/>
                </a:solidFill>
                <a:effectLst/>
                <a:latin typeface="Söhne"/>
              </a:rPr>
              <a:t>Determine an appropriate threshold for classifying anomalies based on evaluation results.</a:t>
            </a:r>
          </a:p>
          <a:p>
            <a:pPr marL="742950" lvl="1" indent="-285750" algn="l">
              <a:buFont typeface="+mj-lt"/>
              <a:buAutoNum type="arabicPeriod"/>
            </a:pPr>
            <a:r>
              <a:rPr lang="en-GB" sz="2500" b="0" i="0" dirty="0">
                <a:solidFill>
                  <a:srgbClr val="374151"/>
                </a:solidFill>
                <a:effectLst/>
                <a:latin typeface="Söhne"/>
              </a:rPr>
              <a:t>Define criteria for identifying instances as anomalies.</a:t>
            </a:r>
          </a:p>
          <a:p>
            <a:pPr marL="0" indent="0" algn="l">
              <a:buNone/>
            </a:pPr>
            <a:endParaRPr lang="en-GB" b="0" i="0" dirty="0">
              <a:solidFill>
                <a:srgbClr val="374151"/>
              </a:solidFill>
              <a:effectLst/>
              <a:latin typeface="Söhne"/>
            </a:endParaRPr>
          </a:p>
        </p:txBody>
      </p:sp>
    </p:spTree>
    <p:extLst>
      <p:ext uri="{BB962C8B-B14F-4D97-AF65-F5344CB8AC3E}">
        <p14:creationId xmlns:p14="http://schemas.microsoft.com/office/powerpoint/2010/main" val="80544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4F2486-FC8D-65AF-632E-92929FDA9113}"/>
              </a:ext>
            </a:extLst>
          </p:cNvPr>
          <p:cNvSpPr>
            <a:spLocks noGrp="1"/>
          </p:cNvSpPr>
          <p:nvPr>
            <p:ph type="title"/>
          </p:nvPr>
        </p:nvSpPr>
        <p:spPr>
          <a:xfrm flipH="1" flipV="1">
            <a:off x="13322104" y="5247248"/>
            <a:ext cx="464231" cy="436098"/>
          </a:xfrm>
        </p:spPr>
        <p:txBody>
          <a:bodyPr>
            <a:normAutofit fontScale="90000"/>
          </a:bodyPr>
          <a:lstStyle/>
          <a:p>
            <a:pPr algn="just"/>
            <a:r>
              <a:rPr lang="en-IN" dirty="0"/>
              <a:t>C</a:t>
            </a:r>
          </a:p>
        </p:txBody>
      </p:sp>
      <p:sp>
        <p:nvSpPr>
          <p:cNvPr id="6" name="Rectangle 1">
            <a:extLst>
              <a:ext uri="{FF2B5EF4-FFF2-40B4-BE49-F238E27FC236}">
                <a16:creationId xmlns:a16="http://schemas.microsoft.com/office/drawing/2014/main" id="{1E2B150F-5668-2A12-071E-D95AA21D2F53}"/>
              </a:ext>
            </a:extLst>
          </p:cNvPr>
          <p:cNvSpPr>
            <a:spLocks noGrp="1" noChangeArrowheads="1"/>
          </p:cNvSpPr>
          <p:nvPr>
            <p:ph idx="1"/>
          </p:nvPr>
        </p:nvSpPr>
        <p:spPr bwMode="auto">
          <a:xfrm>
            <a:off x="0" y="-49607"/>
            <a:ext cx="12192000" cy="714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rgbClr val="000000"/>
                </a:solidFill>
                <a:effectLst/>
                <a:latin typeface="Söhne"/>
              </a:rPr>
              <a:t>7</a:t>
            </a:r>
            <a:r>
              <a:rPr kumimoji="0" lang="en-US" altLang="en-US" sz="1600" b="1" i="0" u="none" strike="noStrike" cap="none" normalizeH="0" baseline="0" dirty="0">
                <a:ln>
                  <a:noFill/>
                </a:ln>
                <a:solidFill>
                  <a:srgbClr val="000000"/>
                </a:solidFill>
                <a:effectLst/>
                <a:latin typeface="Söhne"/>
              </a:rPr>
              <a:t>.Real-time Prediction (Optional):</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Develop a mechanism for making real-time predictions using the trained Random Forest model.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Implement batch processing or streaming for continuous prediction.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8.Monitoring and Alerting (If Applicable):</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Set up a monitoring system to continuously assess incoming data for anomalies.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Configure alerts or notifications for detected anomalies.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9.Reactive Measures (If Applicable):</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Define and implement automated or manual responses to address detected anomalies.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Document response procedures and escalation paths.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10.Reporting:</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Generate detailed reports summarizing the project, data analysis, and model performance.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Include visualizations, insights, and recommendations for stakeholders.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Share reports with relevant teams or individuals.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11.Feedback Loop:</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Establish a feedback mechanism for ongoing model improvement.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Use insights from monitoring and user interactions to update the model and anomaly detection criteria.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12.Documentation:</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Maintain comprehensive documentation, including code, data descriptions, and model details.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Ensure documentation is organized and accessible for future reference.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rgbClr val="000000"/>
                </a:solidFill>
                <a:effectLst/>
                <a:latin typeface="Söhne"/>
              </a:rPr>
              <a:t>13.Project Conclusion:</a:t>
            </a:r>
            <a:endParaRPr kumimoji="0" lang="en-US" altLang="en-US" sz="16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Summarize the project's achievements and lessons learned.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Provide recommendations for future enhancements or research.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Söhne"/>
              </a:rPr>
              <a:t>Ensure proper project closure and handover of deliverables.</a:t>
            </a:r>
          </a:p>
          <a:p>
            <a:pPr marL="0" indent="0">
              <a:lnSpc>
                <a:spcPct val="100000"/>
              </a:lnSpc>
              <a:buFontTx/>
              <a:buChar char="•"/>
            </a:pPr>
            <a:r>
              <a:rPr lang="en-GB" sz="1600" b="0" i="0" dirty="0">
                <a:solidFill>
                  <a:srgbClr val="374151"/>
                </a:solidFill>
                <a:effectLst/>
                <a:latin typeface="Söhne"/>
              </a:rPr>
              <a:t>The scope of work outlined above is essential for the successful completion of a project focused on predicting ionosphere anomalies using a Random Forest machine learning approach. These points cover data preparation, model development, evaluation, real-time prediction, monitoring, and reactive measures to address anomalies. Adapt the scope based on specific project objectives and requirements.</a:t>
            </a:r>
          </a:p>
          <a:p>
            <a:pPr marL="0" indent="0">
              <a:lnSpc>
                <a:spcPct val="100000"/>
              </a:lnSpc>
              <a:buNone/>
            </a:pPr>
            <a:endParaRPr kumimoji="0" lang="en-US" altLang="en-US" sz="2000" b="0" i="0" u="none" strike="noStrike" cap="none" normalizeH="0" baseline="0" dirty="0">
              <a:ln>
                <a:noFill/>
              </a:ln>
              <a:solidFill>
                <a:srgbClr val="000000"/>
              </a:solidFill>
              <a:effectLst/>
              <a:latin typeface="Söhne"/>
            </a:endParaRPr>
          </a:p>
        </p:txBody>
      </p:sp>
    </p:spTree>
    <p:extLst>
      <p:ext uri="{BB962C8B-B14F-4D97-AF65-F5344CB8AC3E}">
        <p14:creationId xmlns:p14="http://schemas.microsoft.com/office/powerpoint/2010/main" val="88443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108F3-E334-FF2D-843D-59F9835F2C3C}"/>
              </a:ext>
            </a:extLst>
          </p:cNvPr>
          <p:cNvSpPr>
            <a:spLocks noGrp="1"/>
          </p:cNvSpPr>
          <p:nvPr>
            <p:ph type="title"/>
          </p:nvPr>
        </p:nvSpPr>
        <p:spPr>
          <a:xfrm>
            <a:off x="4023360" y="1"/>
            <a:ext cx="4740812" cy="1083212"/>
          </a:xfrm>
        </p:spPr>
        <p:txBody>
          <a:bodyPr>
            <a:normAutofit/>
          </a:bodyPr>
          <a:lstStyle/>
          <a:p>
            <a:r>
              <a:rPr lang="en-IN" b="0" i="0" dirty="0">
                <a:solidFill>
                  <a:srgbClr val="343541"/>
                </a:solidFill>
                <a:effectLst/>
                <a:latin typeface="Söhne"/>
              </a:rPr>
              <a:t>METHODOLOGY</a:t>
            </a:r>
            <a:endParaRPr lang="en-IN" dirty="0"/>
          </a:p>
        </p:txBody>
      </p:sp>
      <p:sp>
        <p:nvSpPr>
          <p:cNvPr id="4" name="Rectangle 1">
            <a:extLst>
              <a:ext uri="{FF2B5EF4-FFF2-40B4-BE49-F238E27FC236}">
                <a16:creationId xmlns:a16="http://schemas.microsoft.com/office/drawing/2014/main" id="{B997069D-4918-E145-2B68-FB2ECB6D3608}"/>
              </a:ext>
            </a:extLst>
          </p:cNvPr>
          <p:cNvSpPr>
            <a:spLocks noGrp="1" noChangeArrowheads="1"/>
          </p:cNvSpPr>
          <p:nvPr>
            <p:ph idx="1"/>
          </p:nvPr>
        </p:nvSpPr>
        <p:spPr bwMode="auto">
          <a:xfrm>
            <a:off x="0" y="634218"/>
            <a:ext cx="12056012" cy="621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800" b="1" i="0" u="none" strike="noStrike" cap="none" normalizeH="0" baseline="0" dirty="0">
                <a:ln>
                  <a:noFill/>
                </a:ln>
                <a:solidFill>
                  <a:srgbClr val="000000"/>
                </a:solidFill>
                <a:effectLst/>
                <a:latin typeface="Söhne"/>
              </a:rPr>
              <a:t>Monitoring and Alerting:</a:t>
            </a:r>
            <a:endParaRPr kumimoji="0" lang="en-US" altLang="en-US" sz="18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Develop a monitoring system to continuously assess incoming ionospheric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Implement alerting mechanisms to notify relevant personnel upon anomaly detection.</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800" b="1" i="0" u="none" strike="noStrike" cap="none" normalizeH="0" baseline="0" dirty="0">
                <a:ln>
                  <a:noFill/>
                </a:ln>
                <a:solidFill>
                  <a:srgbClr val="000000"/>
                </a:solidFill>
                <a:effectLst/>
                <a:latin typeface="Söhne"/>
              </a:rPr>
              <a:t>Reactive Measures (Continued):</a:t>
            </a:r>
            <a:endParaRPr kumimoji="0" lang="en-US" altLang="en-US" sz="18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Define specific actions to be taken upon the detection of ionosphere anomalies.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Ensure that the system is capable of executing automated responses or generating alerts for human intervention.</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800" b="1" i="0" u="none" strike="noStrike" cap="none" normalizeH="0" baseline="0" dirty="0">
                <a:ln>
                  <a:noFill/>
                </a:ln>
                <a:solidFill>
                  <a:srgbClr val="000000"/>
                </a:solidFill>
                <a:effectLst/>
                <a:latin typeface="Söhne"/>
              </a:rPr>
              <a:t>Reporting (Continued):</a:t>
            </a:r>
            <a:endParaRPr kumimoji="0" lang="en-US" altLang="en-US" sz="18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Create detailed reports that provide insights into the performance of the Random Forest model.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Include visualizations, statistical summaries, and explanations of detected anomalies.</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800" b="1" i="0" u="none" strike="noStrike" cap="none" normalizeH="0" baseline="0" dirty="0">
                <a:ln>
                  <a:noFill/>
                </a:ln>
                <a:solidFill>
                  <a:srgbClr val="000000"/>
                </a:solidFill>
                <a:effectLst/>
                <a:latin typeface="Söhne"/>
              </a:rPr>
              <a:t>Feedback Loop (Continued):</a:t>
            </a:r>
            <a:endParaRPr kumimoji="0" lang="en-US" altLang="en-US" sz="18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Establish a robust feedback loop to collect input from the monitoring system and end-users.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Utilize feedback to improve the model, fine-tune hyperparameters, and enhance anomaly detection strategies over time.</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800" b="1" i="0" u="none" strike="noStrike" cap="none" normalizeH="0" baseline="0" dirty="0">
                <a:ln>
                  <a:noFill/>
                </a:ln>
                <a:solidFill>
                  <a:srgbClr val="000000"/>
                </a:solidFill>
                <a:effectLst/>
                <a:latin typeface="Söhne"/>
              </a:rPr>
              <a:t>Conclusion (Continued):</a:t>
            </a:r>
            <a:endParaRPr kumimoji="0" lang="en-US" altLang="en-US" sz="18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Summarize the overall project findings, emphasizing the Random Forest model's effectiveness in ionosphere anomaly detection.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Söhne"/>
              </a:rPr>
              <a:t>Highlight any lessons learned and recommendations for future enhancements.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Söhne"/>
              </a:rPr>
              <a:t>By incorporating these additional points into the scope of work, the project ensures comprehensive coverage of tasks related to monitoring, alerting, feedback, and continuous improvement, all of which are critical for the successful deployment of an anomaly detection system using Random Forest machine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3345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90FE-70DD-F4DF-9D92-01D4B9DDC628}"/>
              </a:ext>
            </a:extLst>
          </p:cNvPr>
          <p:cNvSpPr>
            <a:spLocks noGrp="1"/>
          </p:cNvSpPr>
          <p:nvPr>
            <p:ph type="title"/>
          </p:nvPr>
        </p:nvSpPr>
        <p:spPr>
          <a:xfrm>
            <a:off x="4515729" y="140677"/>
            <a:ext cx="6838071" cy="858129"/>
          </a:xfrm>
        </p:spPr>
        <p:txBody>
          <a:bodyPr/>
          <a:lstStyle/>
          <a:p>
            <a:r>
              <a:rPr lang="en-IN" dirty="0"/>
              <a:t>APPLICATION</a:t>
            </a:r>
          </a:p>
        </p:txBody>
      </p:sp>
      <p:sp>
        <p:nvSpPr>
          <p:cNvPr id="3" name="Content Placeholder 2">
            <a:extLst>
              <a:ext uri="{FF2B5EF4-FFF2-40B4-BE49-F238E27FC236}">
                <a16:creationId xmlns:a16="http://schemas.microsoft.com/office/drawing/2014/main" id="{35C6F8DB-EFC7-6F8A-BD57-2222D186AA1C}"/>
              </a:ext>
            </a:extLst>
          </p:cNvPr>
          <p:cNvSpPr>
            <a:spLocks noGrp="1"/>
          </p:cNvSpPr>
          <p:nvPr>
            <p:ph idx="1"/>
          </p:nvPr>
        </p:nvSpPr>
        <p:spPr>
          <a:xfrm>
            <a:off x="0" y="998806"/>
            <a:ext cx="12192000" cy="5859194"/>
          </a:xfrm>
        </p:spPr>
        <p:txBody>
          <a:bodyPr>
            <a:normAutofit fontScale="62500" lnSpcReduction="20000"/>
          </a:bodyPr>
          <a:lstStyle/>
          <a:p>
            <a:pPr algn="l">
              <a:buFont typeface="+mj-lt"/>
              <a:buAutoNum type="arabicPeriod"/>
            </a:pPr>
            <a:r>
              <a:rPr lang="en-GB" b="1" i="0" dirty="0">
                <a:solidFill>
                  <a:srgbClr val="374151"/>
                </a:solidFill>
                <a:effectLst/>
                <a:latin typeface="Söhne"/>
              </a:rPr>
              <a:t>Space Weather Forecasting: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Prediction of ionosphere anomalies can aid in space weather forecasting.</a:t>
            </a:r>
          </a:p>
          <a:p>
            <a:pPr marL="742950" lvl="1" indent="-285750" algn="l">
              <a:buFont typeface="+mj-lt"/>
              <a:buAutoNum type="arabicPeriod"/>
            </a:pPr>
            <a:r>
              <a:rPr lang="en-GB" b="0" i="0" dirty="0">
                <a:solidFill>
                  <a:srgbClr val="374151"/>
                </a:solidFill>
                <a:effectLst/>
                <a:latin typeface="Söhne"/>
              </a:rPr>
              <a:t>Space agencies and satellite operators can use this technology to mitigate the impact of ionospheric disturbances on satellite communication and navigation systems.</a:t>
            </a:r>
          </a:p>
          <a:p>
            <a:pPr algn="l">
              <a:buFont typeface="+mj-lt"/>
              <a:buAutoNum type="arabicPeriod"/>
            </a:pPr>
            <a:r>
              <a:rPr lang="en-GB" b="1" i="0" dirty="0">
                <a:solidFill>
                  <a:srgbClr val="374151"/>
                </a:solidFill>
                <a:effectLst/>
                <a:latin typeface="Söhne"/>
              </a:rPr>
              <a:t>Telecommunication Industry:</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Telecommunication companies can utilize anomaly detection to identify disruptions in signal propagation caused by ionospheric variations.</a:t>
            </a:r>
          </a:p>
          <a:p>
            <a:pPr marL="742950" lvl="1" indent="-285750" algn="l">
              <a:buFont typeface="+mj-lt"/>
              <a:buAutoNum type="arabicPeriod"/>
            </a:pPr>
            <a:r>
              <a:rPr lang="en-GB" b="0" i="0" dirty="0">
                <a:solidFill>
                  <a:srgbClr val="374151"/>
                </a:solidFill>
                <a:effectLst/>
                <a:latin typeface="Söhne"/>
              </a:rPr>
              <a:t>This application can lead to improved service quality and reduced downtime.</a:t>
            </a:r>
          </a:p>
          <a:p>
            <a:pPr algn="l">
              <a:buFont typeface="+mj-lt"/>
              <a:buAutoNum type="arabicPeriod"/>
            </a:pPr>
            <a:r>
              <a:rPr lang="en-GB" b="1" i="0" dirty="0">
                <a:solidFill>
                  <a:srgbClr val="374151"/>
                </a:solidFill>
                <a:effectLst/>
                <a:latin typeface="Söhne"/>
              </a:rPr>
              <a:t>Environmental Monitoring: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Ionosphere anomalies may be correlated with environmental factors like geomagnetic storms.</a:t>
            </a:r>
          </a:p>
          <a:p>
            <a:pPr marL="742950" lvl="1" indent="-285750" algn="l">
              <a:buFont typeface="+mj-lt"/>
              <a:buAutoNum type="arabicPeriod"/>
            </a:pPr>
            <a:r>
              <a:rPr lang="en-GB" b="0" i="0" dirty="0">
                <a:solidFill>
                  <a:srgbClr val="374151"/>
                </a:solidFill>
                <a:effectLst/>
                <a:latin typeface="Söhne"/>
              </a:rPr>
              <a:t>Environmental agencies can use anomaly detection to monitor and predict natural phenomena that affect the ionosphere.</a:t>
            </a:r>
          </a:p>
          <a:p>
            <a:pPr algn="l">
              <a:buFont typeface="+mj-lt"/>
              <a:buAutoNum type="arabicPeriod"/>
            </a:pPr>
            <a:r>
              <a:rPr lang="en-GB" b="1" i="0" dirty="0">
                <a:solidFill>
                  <a:srgbClr val="374151"/>
                </a:solidFill>
                <a:effectLst/>
                <a:latin typeface="Söhne"/>
              </a:rPr>
              <a:t>Aerospace and Aviation:</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Aircraft communication and navigation systems rely on accurate ionospheric data.</a:t>
            </a:r>
          </a:p>
          <a:p>
            <a:pPr marL="742950" lvl="1" indent="-285750" algn="l">
              <a:buFont typeface="+mj-lt"/>
              <a:buAutoNum type="arabicPeriod"/>
            </a:pPr>
            <a:r>
              <a:rPr lang="en-GB" b="0" i="0" dirty="0">
                <a:solidFill>
                  <a:srgbClr val="374151"/>
                </a:solidFill>
                <a:effectLst/>
                <a:latin typeface="Söhne"/>
              </a:rPr>
              <a:t>Predicting anomalies can enhance the safety and efficiency of air travel.</a:t>
            </a:r>
          </a:p>
          <a:p>
            <a:pPr algn="l">
              <a:buFont typeface="+mj-lt"/>
              <a:buAutoNum type="arabicPeriod"/>
            </a:pPr>
            <a:r>
              <a:rPr lang="en-GB" b="1" i="0" dirty="0">
                <a:solidFill>
                  <a:srgbClr val="374151"/>
                </a:solidFill>
                <a:effectLst/>
                <a:latin typeface="Söhne"/>
              </a:rPr>
              <a:t>Military and </a:t>
            </a:r>
            <a:r>
              <a:rPr lang="en-GB" b="1" i="0" dirty="0" err="1">
                <a:solidFill>
                  <a:srgbClr val="374151"/>
                </a:solidFill>
                <a:effectLst/>
                <a:latin typeface="Söhne"/>
              </a:rPr>
              <a:t>Defense</a:t>
            </a:r>
            <a:r>
              <a:rPr lang="en-GB" b="1" i="0" dirty="0">
                <a:solidFill>
                  <a:srgbClr val="374151"/>
                </a:solidFill>
                <a:effectLst/>
                <a:latin typeface="Söhne"/>
              </a:rPr>
              <a:t>:</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military can use ionosphere anomaly prediction for secure and reliable communication and surveillance systems.</a:t>
            </a:r>
          </a:p>
          <a:p>
            <a:pPr marL="742950" lvl="1" indent="-285750" algn="l">
              <a:buFont typeface="+mj-lt"/>
              <a:buAutoNum type="arabicPeriod"/>
            </a:pPr>
            <a:r>
              <a:rPr lang="en-GB" b="0" i="0" dirty="0">
                <a:solidFill>
                  <a:srgbClr val="374151"/>
                </a:solidFill>
                <a:effectLst/>
                <a:latin typeface="Söhne"/>
              </a:rPr>
              <a:t>Anomalies can affect radar and communication in </a:t>
            </a:r>
            <a:r>
              <a:rPr lang="en-GB" b="0" i="0" dirty="0" err="1">
                <a:solidFill>
                  <a:srgbClr val="374151"/>
                </a:solidFill>
                <a:effectLst/>
                <a:latin typeface="Söhne"/>
              </a:rPr>
              <a:t>defense</a:t>
            </a:r>
            <a:r>
              <a:rPr lang="en-GB" b="0" i="0" dirty="0">
                <a:solidFill>
                  <a:srgbClr val="374151"/>
                </a:solidFill>
                <a:effectLst/>
                <a:latin typeface="Söhne"/>
              </a:rPr>
              <a:t> operations.</a:t>
            </a:r>
          </a:p>
          <a:p>
            <a:pPr algn="l">
              <a:buFont typeface="+mj-lt"/>
              <a:buAutoNum type="arabicPeriod"/>
            </a:pPr>
            <a:r>
              <a:rPr lang="en-GB" b="1" i="0" dirty="0">
                <a:solidFill>
                  <a:srgbClr val="374151"/>
                </a:solidFill>
                <a:effectLst/>
                <a:latin typeface="Söhne"/>
              </a:rPr>
              <a:t>Satellite Operations:</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Satellite operators can anticipate and respond to ionospheric anomalies, ensuring uninterrupted satellite services.</a:t>
            </a:r>
          </a:p>
          <a:p>
            <a:pPr marL="742950" lvl="1" indent="-285750" algn="l">
              <a:buFont typeface="+mj-lt"/>
              <a:buAutoNum type="arabicPeriod"/>
            </a:pPr>
            <a:r>
              <a:rPr lang="en-GB" b="0" i="0" dirty="0">
                <a:solidFill>
                  <a:srgbClr val="374151"/>
                </a:solidFill>
                <a:effectLst/>
                <a:latin typeface="Söhne"/>
              </a:rPr>
              <a:t>Anomalies can affect Earth observation and GPS satellite systems.</a:t>
            </a:r>
          </a:p>
          <a:p>
            <a:pPr algn="l">
              <a:buFont typeface="+mj-lt"/>
              <a:buAutoNum type="arabicPeriod"/>
            </a:pPr>
            <a:r>
              <a:rPr lang="en-GB" b="1" i="0" dirty="0">
                <a:solidFill>
                  <a:srgbClr val="374151"/>
                </a:solidFill>
                <a:effectLst/>
                <a:latin typeface="Söhne"/>
              </a:rPr>
              <a:t>Scientific Research:</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Researchers studying the ionosphere can benefit from anomaly detection to identify unusual phenomena.</a:t>
            </a:r>
          </a:p>
          <a:p>
            <a:pPr marL="742950" lvl="1" indent="-285750" algn="l">
              <a:buFont typeface="+mj-lt"/>
              <a:buAutoNum type="arabicPeriod"/>
            </a:pPr>
            <a:r>
              <a:rPr lang="en-GB" b="0" i="0" dirty="0">
                <a:solidFill>
                  <a:srgbClr val="374151"/>
                </a:solidFill>
                <a:effectLst/>
                <a:latin typeface="Söhne"/>
              </a:rPr>
              <a:t>This can aid in understanding the Earth's upper atmosphere and its interactions with space weather.</a:t>
            </a:r>
          </a:p>
        </p:txBody>
      </p:sp>
    </p:spTree>
    <p:extLst>
      <p:ext uri="{BB962C8B-B14F-4D97-AF65-F5344CB8AC3E}">
        <p14:creationId xmlns:p14="http://schemas.microsoft.com/office/powerpoint/2010/main" val="2851926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07BE-7A8E-A83C-7F96-A992C12EBB01}"/>
              </a:ext>
            </a:extLst>
          </p:cNvPr>
          <p:cNvSpPr>
            <a:spLocks noGrp="1"/>
          </p:cNvSpPr>
          <p:nvPr>
            <p:ph type="title"/>
          </p:nvPr>
        </p:nvSpPr>
        <p:spPr>
          <a:xfrm>
            <a:off x="4346917" y="1"/>
            <a:ext cx="4290646" cy="886264"/>
          </a:xfrm>
        </p:spPr>
        <p:txBody>
          <a:bodyPr/>
          <a:lstStyle/>
          <a:p>
            <a:r>
              <a:rPr lang="en-IN" dirty="0"/>
              <a:t>APPLICATION</a:t>
            </a:r>
          </a:p>
        </p:txBody>
      </p:sp>
      <p:sp>
        <p:nvSpPr>
          <p:cNvPr id="3" name="Content Placeholder 2">
            <a:extLst>
              <a:ext uri="{FF2B5EF4-FFF2-40B4-BE49-F238E27FC236}">
                <a16:creationId xmlns:a16="http://schemas.microsoft.com/office/drawing/2014/main" id="{0F4D3FD0-B28E-70C0-DDF5-E97C97162CDD}"/>
              </a:ext>
            </a:extLst>
          </p:cNvPr>
          <p:cNvSpPr>
            <a:spLocks noGrp="1"/>
          </p:cNvSpPr>
          <p:nvPr>
            <p:ph idx="1"/>
          </p:nvPr>
        </p:nvSpPr>
        <p:spPr>
          <a:xfrm>
            <a:off x="0" y="886266"/>
            <a:ext cx="12192000" cy="5971734"/>
          </a:xfrm>
        </p:spPr>
        <p:txBody>
          <a:bodyPr>
            <a:normAutofit fontScale="70000" lnSpcReduction="20000"/>
          </a:bodyPr>
          <a:lstStyle/>
          <a:p>
            <a:pPr marL="0" indent="0" algn="l">
              <a:buNone/>
            </a:pPr>
            <a:r>
              <a:rPr lang="en-GB" b="1" i="0" dirty="0">
                <a:solidFill>
                  <a:srgbClr val="374151"/>
                </a:solidFill>
                <a:effectLst/>
                <a:latin typeface="Söhne"/>
              </a:rPr>
              <a:t>8.Navigation Systems:</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Autonomous vehicles and drones rely on GPS and navigation systems.</a:t>
            </a:r>
          </a:p>
          <a:p>
            <a:pPr marL="742950" lvl="1" indent="-285750" algn="l">
              <a:buFont typeface="+mj-lt"/>
              <a:buAutoNum type="arabicPeriod"/>
            </a:pPr>
            <a:r>
              <a:rPr lang="en-GB" b="0" i="0" dirty="0">
                <a:solidFill>
                  <a:srgbClr val="374151"/>
                </a:solidFill>
                <a:effectLst/>
                <a:latin typeface="Söhne"/>
              </a:rPr>
              <a:t>Predicting and mitigating ionospheric anomalies can improve the accuracy of these systems.</a:t>
            </a:r>
          </a:p>
          <a:p>
            <a:pPr marL="0" indent="0" algn="l">
              <a:buNone/>
            </a:pPr>
            <a:r>
              <a:rPr lang="en-GB" b="1" i="0" dirty="0">
                <a:solidFill>
                  <a:srgbClr val="374151"/>
                </a:solidFill>
                <a:effectLst/>
                <a:latin typeface="Söhne"/>
              </a:rPr>
              <a:t>9.Energy Sector:</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Power grids may experience disruptions due to ionosphere-induced currents.</a:t>
            </a:r>
          </a:p>
          <a:p>
            <a:pPr marL="742950" lvl="1" indent="-285750" algn="l">
              <a:buFont typeface="+mj-lt"/>
              <a:buAutoNum type="arabicPeriod"/>
            </a:pPr>
            <a:r>
              <a:rPr lang="en-GB" b="0" i="0" dirty="0">
                <a:solidFill>
                  <a:srgbClr val="374151"/>
                </a:solidFill>
                <a:effectLst/>
                <a:latin typeface="Söhne"/>
              </a:rPr>
              <a:t>Predicting anomalies can help energy companies prepare for and manage grid disturbances.</a:t>
            </a:r>
          </a:p>
          <a:p>
            <a:pPr marL="0" indent="0" algn="l">
              <a:buNone/>
            </a:pPr>
            <a:r>
              <a:rPr lang="en-GB" b="1" i="0" dirty="0">
                <a:solidFill>
                  <a:srgbClr val="374151"/>
                </a:solidFill>
                <a:effectLst/>
                <a:latin typeface="Söhne"/>
              </a:rPr>
              <a:t>10.Financial Markets:</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Ionosphere anomalies may indirectly impact financial markets through their effects on communication systems.</a:t>
            </a:r>
          </a:p>
          <a:p>
            <a:pPr marL="742950" lvl="1" indent="-285750" algn="l">
              <a:buFont typeface="+mj-lt"/>
              <a:buAutoNum type="arabicPeriod"/>
            </a:pPr>
            <a:r>
              <a:rPr lang="en-GB" b="0" i="0" dirty="0">
                <a:solidFill>
                  <a:srgbClr val="374151"/>
                </a:solidFill>
                <a:effectLst/>
                <a:latin typeface="Söhne"/>
              </a:rPr>
              <a:t>High-frequency trading and financial institutions can benefit from anomaly prediction for risk management.</a:t>
            </a:r>
          </a:p>
          <a:p>
            <a:pPr marL="0" indent="0" algn="l">
              <a:buNone/>
            </a:pPr>
            <a:r>
              <a:rPr lang="en-GB" b="1" i="0" dirty="0">
                <a:solidFill>
                  <a:srgbClr val="374151"/>
                </a:solidFill>
                <a:effectLst/>
                <a:latin typeface="Söhne"/>
              </a:rPr>
              <a:t>11.Education and Research:</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Ionosphere anomaly prediction can be an educational tool for universities and research institutions.</a:t>
            </a:r>
          </a:p>
          <a:p>
            <a:pPr marL="742950" lvl="1" indent="-285750" algn="l">
              <a:buFont typeface="+mj-lt"/>
              <a:buAutoNum type="arabicPeriod"/>
            </a:pPr>
            <a:r>
              <a:rPr lang="en-GB" b="0" i="0" dirty="0">
                <a:solidFill>
                  <a:srgbClr val="374151"/>
                </a:solidFill>
                <a:effectLst/>
                <a:latin typeface="Söhne"/>
              </a:rPr>
              <a:t>Students and researchers can explore space physics, machine learning, and anomaly detection.</a:t>
            </a:r>
          </a:p>
          <a:p>
            <a:pPr marL="0" indent="0" algn="l">
              <a:buNone/>
            </a:pPr>
            <a:r>
              <a:rPr lang="en-GB" b="1" i="0" dirty="0">
                <a:solidFill>
                  <a:srgbClr val="374151"/>
                </a:solidFill>
                <a:effectLst/>
                <a:latin typeface="Söhne"/>
              </a:rPr>
              <a:t>12.Disaster Management:</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Anomalies linked to natural disasters like earthquakes and tsunamis can be monitored.</a:t>
            </a:r>
          </a:p>
          <a:p>
            <a:pPr marL="742950" lvl="1" indent="-285750" algn="l">
              <a:buFont typeface="+mj-lt"/>
              <a:buAutoNum type="arabicPeriod"/>
            </a:pPr>
            <a:r>
              <a:rPr lang="en-GB" b="0" i="0" dirty="0">
                <a:solidFill>
                  <a:srgbClr val="374151"/>
                </a:solidFill>
                <a:effectLst/>
                <a:latin typeface="Söhne"/>
              </a:rPr>
              <a:t>Early detection can aid in disaster preparedness and response.</a:t>
            </a:r>
          </a:p>
          <a:p>
            <a:pPr marL="0" indent="0" algn="l">
              <a:buNone/>
            </a:pPr>
            <a:r>
              <a:rPr lang="en-GB" b="1" i="0" dirty="0">
                <a:solidFill>
                  <a:srgbClr val="374151"/>
                </a:solidFill>
                <a:effectLst/>
                <a:latin typeface="Söhne"/>
              </a:rPr>
              <a:t>13.Global Positioning Systems (GPS):</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GPS services for navigation, geolocation, and timing are susceptible to ionospheric anomalies.</a:t>
            </a:r>
          </a:p>
          <a:p>
            <a:pPr marL="742950" lvl="1" indent="-285750" algn="l">
              <a:buFont typeface="+mj-lt"/>
              <a:buAutoNum type="arabicPeriod"/>
            </a:pPr>
            <a:r>
              <a:rPr lang="en-GB" b="0" i="0" dirty="0">
                <a:solidFill>
                  <a:srgbClr val="374151"/>
                </a:solidFill>
                <a:effectLst/>
                <a:latin typeface="Söhne"/>
              </a:rPr>
              <a:t>Predictive models can help maintain accurate GPS services.</a:t>
            </a:r>
          </a:p>
          <a:p>
            <a:pPr algn="l"/>
            <a:r>
              <a:rPr lang="en-GB" b="0" i="0" dirty="0">
                <a:solidFill>
                  <a:srgbClr val="374151"/>
                </a:solidFill>
                <a:effectLst/>
                <a:latin typeface="Söhne"/>
              </a:rPr>
              <a:t>The application of a Random Forest machine learning approach for predicting ionosphere anomalies is versatile and offers solutions to challenges in various sectors. The technology has the potential to enhance the reliability, safety, and performance of systems and services that rely on ionospheric data.</a:t>
            </a:r>
          </a:p>
          <a:p>
            <a:endParaRPr lang="en-IN" dirty="0"/>
          </a:p>
        </p:txBody>
      </p:sp>
    </p:spTree>
    <p:extLst>
      <p:ext uri="{BB962C8B-B14F-4D97-AF65-F5344CB8AC3E}">
        <p14:creationId xmlns:p14="http://schemas.microsoft.com/office/powerpoint/2010/main" val="3422013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D14E-8AE5-6A97-524F-5D19CC69D28A}"/>
              </a:ext>
            </a:extLst>
          </p:cNvPr>
          <p:cNvSpPr>
            <a:spLocks noGrp="1"/>
          </p:cNvSpPr>
          <p:nvPr>
            <p:ph type="title"/>
          </p:nvPr>
        </p:nvSpPr>
        <p:spPr>
          <a:xfrm>
            <a:off x="1955409" y="351691"/>
            <a:ext cx="9537896" cy="829994"/>
          </a:xfrm>
        </p:spPr>
        <p:txBody>
          <a:bodyPr>
            <a:normAutofit/>
          </a:bodyPr>
          <a:lstStyle/>
          <a:p>
            <a:r>
              <a:rPr lang="en-IN" b="0" i="0" dirty="0">
                <a:solidFill>
                  <a:srgbClr val="343541"/>
                </a:solidFill>
                <a:effectLst/>
                <a:latin typeface="Söhne"/>
              </a:rPr>
              <a:t>SOFTWARE REQUIREMENTS </a:t>
            </a:r>
            <a:endParaRPr lang="en-IN" dirty="0"/>
          </a:p>
        </p:txBody>
      </p:sp>
      <p:sp>
        <p:nvSpPr>
          <p:cNvPr id="3" name="Content Placeholder 2">
            <a:extLst>
              <a:ext uri="{FF2B5EF4-FFF2-40B4-BE49-F238E27FC236}">
                <a16:creationId xmlns:a16="http://schemas.microsoft.com/office/drawing/2014/main" id="{CA2F495D-89B5-F187-D734-80F646136306}"/>
              </a:ext>
            </a:extLst>
          </p:cNvPr>
          <p:cNvSpPr>
            <a:spLocks noGrp="1"/>
          </p:cNvSpPr>
          <p:nvPr>
            <p:ph idx="1"/>
          </p:nvPr>
        </p:nvSpPr>
        <p:spPr>
          <a:xfrm>
            <a:off x="0" y="1786597"/>
            <a:ext cx="12192000" cy="5071401"/>
          </a:xfrm>
        </p:spPr>
        <p:txBody>
          <a:bodyPr>
            <a:normAutofit/>
          </a:bodyPr>
          <a:lstStyle/>
          <a:p>
            <a:pPr algn="l"/>
            <a:r>
              <a:rPr lang="en-IN" b="1" i="0" dirty="0">
                <a:solidFill>
                  <a:srgbClr val="000000"/>
                </a:solidFill>
                <a:effectLst/>
                <a:latin typeface="-apple-system"/>
              </a:rPr>
              <a:t>Software Requirements:</a:t>
            </a:r>
            <a:endParaRPr lang="en-IN" b="0" i="0" dirty="0">
              <a:solidFill>
                <a:srgbClr val="000000"/>
              </a:solidFill>
              <a:effectLst/>
              <a:latin typeface="-apple-system"/>
            </a:endParaRPr>
          </a:p>
          <a:p>
            <a:pPr algn="l">
              <a:buFont typeface="Arial" panose="020B0604020202020204" pitchFamily="34" charset="0"/>
              <a:buChar char="•"/>
            </a:pPr>
            <a:r>
              <a:rPr lang="en-IN" b="0" i="0" dirty="0">
                <a:solidFill>
                  <a:srgbClr val="000000"/>
                </a:solidFill>
                <a:effectLst/>
                <a:latin typeface="-apple-system"/>
              </a:rPr>
              <a:t>Python 3.x: The programming language for implementing the Random Forest algorithm and data preprocessing.</a:t>
            </a:r>
          </a:p>
          <a:p>
            <a:pPr algn="l">
              <a:buFont typeface="Arial" panose="020B0604020202020204" pitchFamily="34" charset="0"/>
              <a:buChar char="•"/>
            </a:pPr>
            <a:r>
              <a:rPr lang="en-IN" b="0" i="0" dirty="0">
                <a:solidFill>
                  <a:srgbClr val="000000"/>
                </a:solidFill>
                <a:effectLst/>
                <a:latin typeface="-apple-system"/>
              </a:rPr>
              <a:t>Scikit-learn: A machine learning library in Python that includes the Random Forest algorithm.</a:t>
            </a:r>
          </a:p>
          <a:p>
            <a:pPr algn="l">
              <a:buFont typeface="Arial" panose="020B0604020202020204" pitchFamily="34" charset="0"/>
              <a:buChar char="•"/>
            </a:pPr>
            <a:r>
              <a:rPr lang="en-IN" b="0" i="0" dirty="0">
                <a:solidFill>
                  <a:srgbClr val="000000"/>
                </a:solidFill>
                <a:effectLst/>
                <a:latin typeface="-apple-system"/>
              </a:rPr>
              <a:t>Pandas: A Python library for data manipulation and analysis.</a:t>
            </a:r>
          </a:p>
          <a:p>
            <a:pPr algn="l">
              <a:buFont typeface="Arial" panose="020B0604020202020204" pitchFamily="34" charset="0"/>
              <a:buChar char="•"/>
            </a:pPr>
            <a:r>
              <a:rPr lang="en-IN" b="0" i="0" dirty="0">
                <a:solidFill>
                  <a:srgbClr val="000000"/>
                </a:solidFill>
                <a:effectLst/>
                <a:latin typeface="-apple-system"/>
              </a:rPr>
              <a:t>NumPy: A Python library for numerical operations.</a:t>
            </a:r>
          </a:p>
          <a:p>
            <a:pPr algn="l">
              <a:buFont typeface="Arial" panose="020B0604020202020204" pitchFamily="34" charset="0"/>
              <a:buChar char="•"/>
            </a:pPr>
            <a:r>
              <a:rPr lang="en-IN" b="0" i="0" dirty="0">
                <a:solidFill>
                  <a:srgbClr val="000000"/>
                </a:solidFill>
                <a:effectLst/>
                <a:latin typeface="-apple-system"/>
              </a:rPr>
              <a:t>Matplotlib: A Python library for data visualization.</a:t>
            </a:r>
          </a:p>
          <a:p>
            <a:pPr marL="0" indent="0">
              <a:buNone/>
            </a:pPr>
            <a:endParaRPr lang="en-IN" dirty="0"/>
          </a:p>
        </p:txBody>
      </p:sp>
    </p:spTree>
    <p:extLst>
      <p:ext uri="{BB962C8B-B14F-4D97-AF65-F5344CB8AC3E}">
        <p14:creationId xmlns:p14="http://schemas.microsoft.com/office/powerpoint/2010/main" val="374590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15F69-F9FD-28AB-C107-1ACCB1492BCE}"/>
              </a:ext>
            </a:extLst>
          </p:cNvPr>
          <p:cNvSpPr>
            <a:spLocks noGrp="1"/>
          </p:cNvSpPr>
          <p:nvPr>
            <p:ph type="title"/>
          </p:nvPr>
        </p:nvSpPr>
        <p:spPr>
          <a:xfrm>
            <a:off x="3024554" y="365126"/>
            <a:ext cx="8329245" cy="760290"/>
          </a:xfrm>
        </p:spPr>
        <p:txBody>
          <a:bodyPr/>
          <a:lstStyle/>
          <a:p>
            <a:r>
              <a:rPr lang="en-IN" dirty="0"/>
              <a:t>HARDWARE REQUIREMENTS</a:t>
            </a:r>
          </a:p>
        </p:txBody>
      </p:sp>
      <p:sp>
        <p:nvSpPr>
          <p:cNvPr id="3" name="Content Placeholder 2">
            <a:extLst>
              <a:ext uri="{FF2B5EF4-FFF2-40B4-BE49-F238E27FC236}">
                <a16:creationId xmlns:a16="http://schemas.microsoft.com/office/drawing/2014/main" id="{9D723032-FC2E-ECED-43BC-8217D6313579}"/>
              </a:ext>
            </a:extLst>
          </p:cNvPr>
          <p:cNvSpPr>
            <a:spLocks noGrp="1"/>
          </p:cNvSpPr>
          <p:nvPr>
            <p:ph idx="1"/>
          </p:nvPr>
        </p:nvSpPr>
        <p:spPr/>
        <p:txBody>
          <a:bodyPr>
            <a:normAutofit fontScale="92500" lnSpcReduction="10000"/>
          </a:bodyPr>
          <a:lstStyle/>
          <a:p>
            <a:pPr algn="l"/>
            <a:r>
              <a:rPr lang="en-IN" b="1" i="0" dirty="0">
                <a:solidFill>
                  <a:srgbClr val="000000"/>
                </a:solidFill>
                <a:effectLst/>
                <a:latin typeface="-apple-system"/>
              </a:rPr>
              <a:t>Hardware Requirements:</a:t>
            </a:r>
            <a:endParaRPr lang="en-IN" b="0" i="0" dirty="0">
              <a:solidFill>
                <a:srgbClr val="000000"/>
              </a:solidFill>
              <a:effectLst/>
              <a:latin typeface="-apple-system"/>
            </a:endParaRPr>
          </a:p>
          <a:p>
            <a:pPr algn="l">
              <a:buFont typeface="Arial" panose="020B0604020202020204" pitchFamily="34" charset="0"/>
              <a:buChar char="•"/>
            </a:pPr>
            <a:r>
              <a:rPr lang="en-GB" b="0" i="0" dirty="0">
                <a:solidFill>
                  <a:srgbClr val="000000"/>
                </a:solidFill>
                <a:effectLst/>
                <a:latin typeface="-apple-system"/>
              </a:rPr>
              <a:t>Computer: A desktop or laptop computer capable of running the required software.</a:t>
            </a:r>
          </a:p>
          <a:p>
            <a:pPr algn="l">
              <a:buFont typeface="Arial" panose="020B0604020202020204" pitchFamily="34" charset="0"/>
              <a:buChar char="•"/>
            </a:pPr>
            <a:r>
              <a:rPr lang="en-GB" b="0" i="0" dirty="0">
                <a:solidFill>
                  <a:srgbClr val="000000"/>
                </a:solidFill>
                <a:effectLst/>
                <a:latin typeface="-apple-system"/>
              </a:rPr>
              <a:t>Processor: A multi-core processor for efficient training of the Random Forest model.</a:t>
            </a:r>
          </a:p>
          <a:p>
            <a:pPr algn="l">
              <a:buFont typeface="Arial" panose="020B0604020202020204" pitchFamily="34" charset="0"/>
              <a:buChar char="•"/>
            </a:pPr>
            <a:r>
              <a:rPr lang="en-GB" b="0" i="0" dirty="0">
                <a:solidFill>
                  <a:srgbClr val="000000"/>
                </a:solidFill>
                <a:effectLst/>
                <a:latin typeface="-apple-system"/>
              </a:rPr>
              <a:t>Memory (RAM): Recommended minimum of 4GB RAM, but the exact amount depends on the dataset size.</a:t>
            </a:r>
          </a:p>
          <a:p>
            <a:pPr algn="l">
              <a:buFont typeface="Arial" panose="020B0604020202020204" pitchFamily="34" charset="0"/>
              <a:buChar char="•"/>
            </a:pPr>
            <a:r>
              <a:rPr lang="en-GB" b="0" i="0" dirty="0">
                <a:solidFill>
                  <a:srgbClr val="000000"/>
                </a:solidFill>
                <a:effectLst/>
                <a:latin typeface="-apple-system"/>
              </a:rPr>
              <a:t>Storage: Adequate storage space to store the dataset, software libraries, and any intermediate or output files.</a:t>
            </a:r>
          </a:p>
          <a:p>
            <a:pPr algn="l">
              <a:buFont typeface="Arial" panose="020B0604020202020204" pitchFamily="34" charset="0"/>
              <a:buChar char="•"/>
            </a:pPr>
            <a:r>
              <a:rPr lang="en-GB" b="0" i="0" dirty="0">
                <a:solidFill>
                  <a:srgbClr val="000000"/>
                </a:solidFill>
                <a:effectLst/>
                <a:latin typeface="-apple-system"/>
              </a:rPr>
              <a:t>Internet Connection: Required for downloading software libraries and accessing online resources if needed.</a:t>
            </a:r>
          </a:p>
          <a:p>
            <a:endParaRPr lang="en-IN" dirty="0"/>
          </a:p>
        </p:txBody>
      </p:sp>
    </p:spTree>
    <p:extLst>
      <p:ext uri="{BB962C8B-B14F-4D97-AF65-F5344CB8AC3E}">
        <p14:creationId xmlns:p14="http://schemas.microsoft.com/office/powerpoint/2010/main" val="3222050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B999-6AE4-8F04-FC13-9C691B58CA30}"/>
              </a:ext>
            </a:extLst>
          </p:cNvPr>
          <p:cNvSpPr>
            <a:spLocks noGrp="1"/>
          </p:cNvSpPr>
          <p:nvPr>
            <p:ph type="title"/>
          </p:nvPr>
        </p:nvSpPr>
        <p:spPr>
          <a:xfrm>
            <a:off x="2926080" y="1"/>
            <a:ext cx="5753686" cy="1111347"/>
          </a:xfrm>
        </p:spPr>
        <p:txBody>
          <a:bodyPr/>
          <a:lstStyle/>
          <a:p>
            <a:r>
              <a:rPr lang="en-IN" dirty="0"/>
              <a:t>SYSTEM ARCHITECTURE</a:t>
            </a:r>
          </a:p>
        </p:txBody>
      </p:sp>
      <p:sp>
        <p:nvSpPr>
          <p:cNvPr id="3" name="Content Placeholder 2">
            <a:extLst>
              <a:ext uri="{FF2B5EF4-FFF2-40B4-BE49-F238E27FC236}">
                <a16:creationId xmlns:a16="http://schemas.microsoft.com/office/drawing/2014/main" id="{264315A2-2990-418A-08F9-ADEB8B9CF031}"/>
              </a:ext>
            </a:extLst>
          </p:cNvPr>
          <p:cNvSpPr>
            <a:spLocks noGrp="1"/>
          </p:cNvSpPr>
          <p:nvPr>
            <p:ph idx="1"/>
          </p:nvPr>
        </p:nvSpPr>
        <p:spPr>
          <a:xfrm>
            <a:off x="0" y="872198"/>
            <a:ext cx="12192000" cy="5985802"/>
          </a:xfrm>
        </p:spPr>
        <p:txBody>
          <a:bodyPr>
            <a:normAutofit fontScale="62500" lnSpcReduction="20000"/>
          </a:bodyPr>
          <a:lstStyle/>
          <a:p>
            <a:pPr algn="l">
              <a:buFont typeface="+mj-lt"/>
              <a:buAutoNum type="arabicPeriod"/>
            </a:pPr>
            <a:r>
              <a:rPr lang="en-GB" b="1" i="0" dirty="0">
                <a:solidFill>
                  <a:srgbClr val="374151"/>
                </a:solidFill>
                <a:effectLst/>
                <a:latin typeface="Söhne"/>
              </a:rPr>
              <a:t>Data Collection:</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system begins with the collection of ionospheric data. This data can be obtained from ground-based radar systems, satellites, or other relevant sources.</a:t>
            </a:r>
          </a:p>
          <a:p>
            <a:pPr marL="742950" lvl="1" indent="-285750" algn="l">
              <a:buFont typeface="+mj-lt"/>
              <a:buAutoNum type="arabicPeriod"/>
            </a:pPr>
            <a:r>
              <a:rPr lang="en-GB" b="0" i="0" dirty="0">
                <a:solidFill>
                  <a:srgbClr val="374151"/>
                </a:solidFill>
                <a:effectLst/>
                <a:latin typeface="Söhne"/>
              </a:rPr>
              <a:t>Data collection may include various attributes, such as radar return values, timestamps, and geographic information.</a:t>
            </a:r>
          </a:p>
          <a:p>
            <a:pPr algn="l">
              <a:buFont typeface="+mj-lt"/>
              <a:buAutoNum type="arabicPeriod"/>
            </a:pPr>
            <a:r>
              <a:rPr lang="en-GB" b="1" i="0" dirty="0">
                <a:solidFill>
                  <a:srgbClr val="374151"/>
                </a:solidFill>
                <a:effectLst/>
                <a:latin typeface="Söhne"/>
              </a:rPr>
              <a:t>Data Preprocessing: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Once the data is collected, it undergoes preprocessing to clean and prepare it for analysis.</a:t>
            </a:r>
          </a:p>
          <a:p>
            <a:pPr marL="742950" lvl="1" indent="-285750" algn="l">
              <a:buFont typeface="+mj-lt"/>
              <a:buAutoNum type="arabicPeriod"/>
            </a:pPr>
            <a:r>
              <a:rPr lang="en-GB" b="0" i="0" dirty="0">
                <a:solidFill>
                  <a:srgbClr val="374151"/>
                </a:solidFill>
                <a:effectLst/>
                <a:latin typeface="Söhne"/>
              </a:rPr>
              <a:t>Data preprocessing steps may involve handling missing values, scaling features, and encoding categorical data.</a:t>
            </a:r>
          </a:p>
          <a:p>
            <a:pPr algn="l">
              <a:buFont typeface="+mj-lt"/>
              <a:buAutoNum type="arabicPeriod"/>
            </a:pPr>
            <a:r>
              <a:rPr lang="en-GB" b="1" i="0" dirty="0">
                <a:solidFill>
                  <a:srgbClr val="374151"/>
                </a:solidFill>
                <a:effectLst/>
                <a:latin typeface="Söhne"/>
              </a:rPr>
              <a:t>Data Splitting: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a:t>
            </a:r>
            <a:r>
              <a:rPr lang="en-GB" b="0" i="0" dirty="0" err="1">
                <a:solidFill>
                  <a:srgbClr val="374151"/>
                </a:solidFill>
                <a:effectLst/>
                <a:latin typeface="Söhne"/>
              </a:rPr>
              <a:t>preprocessed</a:t>
            </a:r>
            <a:r>
              <a:rPr lang="en-GB" b="0" i="0" dirty="0">
                <a:solidFill>
                  <a:srgbClr val="374151"/>
                </a:solidFill>
                <a:effectLst/>
                <a:latin typeface="Söhne"/>
              </a:rPr>
              <a:t> data is split into two sets: a training dataset and a testing dataset.</a:t>
            </a:r>
          </a:p>
          <a:p>
            <a:pPr marL="742950" lvl="1" indent="-285750" algn="l">
              <a:buFont typeface="+mj-lt"/>
              <a:buAutoNum type="arabicPeriod"/>
            </a:pPr>
            <a:r>
              <a:rPr lang="en-GB" b="0" i="0" dirty="0">
                <a:solidFill>
                  <a:srgbClr val="374151"/>
                </a:solidFill>
                <a:effectLst/>
                <a:latin typeface="Söhne"/>
              </a:rPr>
              <a:t>The training dataset is used to train the Random Forest machine learning model, while the testing dataset is reserved for model evaluation.</a:t>
            </a:r>
          </a:p>
          <a:p>
            <a:pPr algn="l">
              <a:buFont typeface="+mj-lt"/>
              <a:buAutoNum type="arabicPeriod"/>
            </a:pPr>
            <a:r>
              <a:rPr lang="en-GB" b="1" i="0" dirty="0">
                <a:solidFill>
                  <a:srgbClr val="374151"/>
                </a:solidFill>
                <a:effectLst/>
                <a:latin typeface="Söhne"/>
              </a:rPr>
              <a:t>Model Building: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In this stage, a Random Forest machine learning model is constructed using the training dataset.</a:t>
            </a:r>
          </a:p>
          <a:p>
            <a:pPr marL="742950" lvl="1" indent="-285750" algn="l">
              <a:buFont typeface="+mj-lt"/>
              <a:buAutoNum type="arabicPeriod"/>
            </a:pPr>
            <a:r>
              <a:rPr lang="en-GB" b="0" i="0" dirty="0">
                <a:solidFill>
                  <a:srgbClr val="374151"/>
                </a:solidFill>
                <a:effectLst/>
                <a:latin typeface="Söhne"/>
              </a:rPr>
              <a:t>The model is designed to learn the patterns and relationships in the ionospheric data that are indicative of anomalies.</a:t>
            </a:r>
          </a:p>
          <a:p>
            <a:pPr algn="l">
              <a:buFont typeface="+mj-lt"/>
              <a:buAutoNum type="arabicPeriod"/>
            </a:pPr>
            <a:r>
              <a:rPr lang="en-GB" b="1" i="0" dirty="0">
                <a:solidFill>
                  <a:srgbClr val="374151"/>
                </a:solidFill>
                <a:effectLst/>
                <a:latin typeface="Söhne"/>
              </a:rPr>
              <a:t>Hyperparameter Tuning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Hyperparameter tuning may be performed to optimize the Random Forest model's performance.</a:t>
            </a:r>
          </a:p>
          <a:p>
            <a:pPr marL="742950" lvl="1" indent="-285750" algn="l">
              <a:buFont typeface="+mj-lt"/>
              <a:buAutoNum type="arabicPeriod"/>
            </a:pPr>
            <a:r>
              <a:rPr lang="en-GB" b="0" i="0" dirty="0">
                <a:solidFill>
                  <a:srgbClr val="374151"/>
                </a:solidFill>
                <a:effectLst/>
                <a:latin typeface="Söhne"/>
              </a:rPr>
              <a:t>This step involves selecting the best combination of hyperparameters, such as the number of trees in the forest and the maximum depth of each tree.</a:t>
            </a:r>
          </a:p>
          <a:p>
            <a:pPr algn="l">
              <a:buFont typeface="+mj-lt"/>
              <a:buAutoNum type="arabicPeriod"/>
            </a:pPr>
            <a:r>
              <a:rPr lang="en-GB" b="1" i="0" dirty="0">
                <a:solidFill>
                  <a:srgbClr val="374151"/>
                </a:solidFill>
                <a:effectLst/>
                <a:latin typeface="Söhne"/>
              </a:rPr>
              <a:t>Model Evaluation:</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trained Random Forest model is evaluated using the testing dataset.</a:t>
            </a:r>
          </a:p>
          <a:p>
            <a:pPr marL="742950" lvl="1" indent="-285750" algn="l">
              <a:buFont typeface="+mj-lt"/>
              <a:buAutoNum type="arabicPeriod"/>
            </a:pPr>
            <a:r>
              <a:rPr lang="en-GB" b="0" i="0" dirty="0">
                <a:solidFill>
                  <a:srgbClr val="374151"/>
                </a:solidFill>
                <a:effectLst/>
                <a:latin typeface="Söhne"/>
              </a:rPr>
              <a:t>Various evaluation metrics, such as accuracy, precision, recall, and F1-score, are calculated to assess the model's performance in detecting ionosphere anomalies.</a:t>
            </a:r>
          </a:p>
          <a:p>
            <a:pPr algn="l">
              <a:buFont typeface="+mj-lt"/>
              <a:buAutoNum type="arabicPeriod"/>
            </a:pPr>
            <a:r>
              <a:rPr lang="en-GB" b="1" i="0" dirty="0">
                <a:solidFill>
                  <a:srgbClr val="374151"/>
                </a:solidFill>
                <a:effectLst/>
                <a:latin typeface="Söhne"/>
              </a:rPr>
              <a:t>Anomaly Detection Threshold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An anomaly detection threshold may be defined to classify data points as anomalies or non-anomalies based on model output probabilities.</a:t>
            </a:r>
          </a:p>
          <a:p>
            <a:pPr marL="742950" lvl="1" indent="-285750" algn="l">
              <a:buFont typeface="+mj-lt"/>
              <a:buAutoNum type="arabicPeriod"/>
            </a:pPr>
            <a:r>
              <a:rPr lang="en-GB" b="0" i="0" dirty="0">
                <a:solidFill>
                  <a:srgbClr val="374151"/>
                </a:solidFill>
                <a:effectLst/>
                <a:latin typeface="Söhne"/>
              </a:rPr>
              <a:t>Data points with probabilities exceeding the threshold are classified as anomalies.</a:t>
            </a:r>
          </a:p>
          <a:p>
            <a:endParaRPr lang="en-IN" dirty="0"/>
          </a:p>
        </p:txBody>
      </p:sp>
    </p:spTree>
    <p:extLst>
      <p:ext uri="{BB962C8B-B14F-4D97-AF65-F5344CB8AC3E}">
        <p14:creationId xmlns:p14="http://schemas.microsoft.com/office/powerpoint/2010/main" val="3018321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E409-20E2-1EC5-C0AF-03D9DBFE5E28}"/>
              </a:ext>
            </a:extLst>
          </p:cNvPr>
          <p:cNvSpPr>
            <a:spLocks noGrp="1"/>
          </p:cNvSpPr>
          <p:nvPr>
            <p:ph type="title"/>
          </p:nvPr>
        </p:nvSpPr>
        <p:spPr>
          <a:xfrm>
            <a:off x="3137094" y="1"/>
            <a:ext cx="8216705" cy="1041008"/>
          </a:xfrm>
        </p:spPr>
        <p:txBody>
          <a:bodyPr/>
          <a:lstStyle/>
          <a:p>
            <a:r>
              <a:rPr lang="en-IN" dirty="0"/>
              <a:t>SYSTEM ARCHITECTURE</a:t>
            </a:r>
          </a:p>
        </p:txBody>
      </p:sp>
      <p:sp>
        <p:nvSpPr>
          <p:cNvPr id="3" name="Content Placeholder 2">
            <a:extLst>
              <a:ext uri="{FF2B5EF4-FFF2-40B4-BE49-F238E27FC236}">
                <a16:creationId xmlns:a16="http://schemas.microsoft.com/office/drawing/2014/main" id="{87D2C6D1-FD3F-8FA0-9CD9-1B0426CD4A55}"/>
              </a:ext>
            </a:extLst>
          </p:cNvPr>
          <p:cNvSpPr>
            <a:spLocks noGrp="1"/>
          </p:cNvSpPr>
          <p:nvPr>
            <p:ph idx="1"/>
          </p:nvPr>
        </p:nvSpPr>
        <p:spPr>
          <a:xfrm>
            <a:off x="0" y="1041009"/>
            <a:ext cx="12191999" cy="5816990"/>
          </a:xfrm>
        </p:spPr>
        <p:txBody>
          <a:bodyPr>
            <a:normAutofit fontScale="62500" lnSpcReduction="20000"/>
          </a:bodyPr>
          <a:lstStyle/>
          <a:p>
            <a:pPr marL="0" indent="0" algn="l">
              <a:buNone/>
            </a:pPr>
            <a:r>
              <a:rPr lang="en-GB" b="1" i="0" dirty="0">
                <a:solidFill>
                  <a:srgbClr val="374151"/>
                </a:solidFill>
                <a:effectLst/>
                <a:latin typeface="Söhne"/>
              </a:rPr>
              <a:t>8.Real-time Prediction:</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trained model can be deployed to make real-time predictions on incoming ionospheric data.</a:t>
            </a:r>
          </a:p>
          <a:p>
            <a:pPr marL="742950" lvl="1" indent="-285750" algn="l">
              <a:buFont typeface="+mj-lt"/>
              <a:buAutoNum type="arabicPeriod"/>
            </a:pPr>
            <a:r>
              <a:rPr lang="en-GB" b="0" i="0" dirty="0">
                <a:solidFill>
                  <a:srgbClr val="374151"/>
                </a:solidFill>
                <a:effectLst/>
                <a:latin typeface="Söhne"/>
              </a:rPr>
              <a:t>This allows for the continuous monitoring and detection of anomalies as new data becomes available.</a:t>
            </a:r>
          </a:p>
          <a:p>
            <a:pPr marL="0" indent="0" algn="l">
              <a:buNone/>
            </a:pPr>
            <a:r>
              <a:rPr lang="en-GB" b="1" i="0" dirty="0">
                <a:solidFill>
                  <a:srgbClr val="374151"/>
                </a:solidFill>
                <a:effectLst/>
                <a:latin typeface="Söhne"/>
              </a:rPr>
              <a:t>9.Monitoring and Alerting: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system includes monitoring capabilities to track the model's performance and the occurrence of anomalies.</a:t>
            </a:r>
          </a:p>
          <a:p>
            <a:pPr marL="742950" lvl="1" indent="-285750" algn="l">
              <a:buFont typeface="+mj-lt"/>
              <a:buAutoNum type="arabicPeriod"/>
            </a:pPr>
            <a:r>
              <a:rPr lang="en-GB" b="0" i="0" dirty="0">
                <a:solidFill>
                  <a:srgbClr val="374151"/>
                </a:solidFill>
                <a:effectLst/>
                <a:latin typeface="Söhne"/>
              </a:rPr>
              <a:t>When anomalies are detected, alerts or notifications can be generated to inform relevant personnel.</a:t>
            </a:r>
          </a:p>
          <a:p>
            <a:pPr marL="0" indent="0" algn="l">
              <a:buNone/>
            </a:pPr>
            <a:r>
              <a:rPr lang="en-GB" b="1" i="0" dirty="0">
                <a:solidFill>
                  <a:srgbClr val="374151"/>
                </a:solidFill>
                <a:effectLst/>
                <a:latin typeface="Söhne"/>
              </a:rPr>
              <a:t>10.Reactive Measures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Depending on the domain and application, reactive measures may be taken upon detecting anomalies.</a:t>
            </a:r>
          </a:p>
          <a:p>
            <a:pPr marL="742950" lvl="1" indent="-285750" algn="l">
              <a:buFont typeface="+mj-lt"/>
              <a:buAutoNum type="arabicPeriod"/>
            </a:pPr>
            <a:r>
              <a:rPr lang="en-GB" b="0" i="0" dirty="0">
                <a:solidFill>
                  <a:srgbClr val="374151"/>
                </a:solidFill>
                <a:effectLst/>
                <a:latin typeface="Söhne"/>
              </a:rPr>
              <a:t>These measures could include adjusting communication systems, rerouting signals, or initiating safety protocols.</a:t>
            </a:r>
          </a:p>
          <a:p>
            <a:pPr marL="0" indent="0" algn="l">
              <a:buNone/>
            </a:pPr>
            <a:r>
              <a:rPr lang="en-GB" b="1" i="0" dirty="0">
                <a:solidFill>
                  <a:srgbClr val="374151"/>
                </a:solidFill>
                <a:effectLst/>
                <a:latin typeface="Söhne"/>
              </a:rPr>
              <a:t>11.Reporting:</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system generates reports summarizing the model's performance, including the accuracy of anomaly detection and any false positives or false negatives.</a:t>
            </a:r>
          </a:p>
          <a:p>
            <a:pPr marL="742950" lvl="1" indent="-285750" algn="l">
              <a:buFont typeface="+mj-lt"/>
              <a:buAutoNum type="arabicPeriod"/>
            </a:pPr>
            <a:r>
              <a:rPr lang="en-GB" b="0" i="0" dirty="0">
                <a:solidFill>
                  <a:srgbClr val="374151"/>
                </a:solidFill>
                <a:effectLst/>
                <a:latin typeface="Söhne"/>
              </a:rPr>
              <a:t>Reports can be useful for stakeholders and decision-makers.</a:t>
            </a:r>
          </a:p>
          <a:p>
            <a:pPr marL="0" indent="0" algn="l">
              <a:buNone/>
            </a:pPr>
            <a:r>
              <a:rPr lang="en-GB" b="1" i="0" dirty="0">
                <a:solidFill>
                  <a:srgbClr val="374151"/>
                </a:solidFill>
                <a:effectLst/>
                <a:latin typeface="Söhne"/>
              </a:rPr>
              <a:t>12.Feedback Loop:</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 feedback loop is established to continuously improve the system's performance.</a:t>
            </a:r>
          </a:p>
          <a:p>
            <a:pPr marL="742950" lvl="1" indent="-285750" algn="l">
              <a:buFont typeface="+mj-lt"/>
              <a:buAutoNum type="arabicPeriod"/>
            </a:pPr>
            <a:r>
              <a:rPr lang="en-GB" b="0" i="0" dirty="0">
                <a:solidFill>
                  <a:srgbClr val="374151"/>
                </a:solidFill>
                <a:effectLst/>
                <a:latin typeface="Söhne"/>
              </a:rPr>
              <a:t>Feedback may come from monitoring, user feedback, or updated data.</a:t>
            </a:r>
          </a:p>
          <a:p>
            <a:pPr marL="0" indent="0" algn="l">
              <a:buNone/>
            </a:pPr>
            <a:r>
              <a:rPr lang="en-GB" b="1" i="0" dirty="0">
                <a:solidFill>
                  <a:srgbClr val="374151"/>
                </a:solidFill>
                <a:effectLst/>
                <a:latin typeface="Söhne"/>
              </a:rPr>
              <a:t>13.End:</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system architecture concludes with an "End" symbol, signifying the completion of the process flow.</a:t>
            </a:r>
          </a:p>
          <a:p>
            <a:pPr marL="742950" lvl="1" indent="-285750" algn="l">
              <a:buFont typeface="+mj-lt"/>
              <a:buAutoNum type="arabicPeriod"/>
            </a:pPr>
            <a:endParaRPr lang="en-GB" b="0" i="0" dirty="0">
              <a:solidFill>
                <a:srgbClr val="374151"/>
              </a:solidFill>
              <a:effectLst/>
              <a:latin typeface="Söhne"/>
            </a:endParaRPr>
          </a:p>
          <a:p>
            <a:pPr algn="l"/>
            <a:r>
              <a:rPr lang="en-GB" b="0" i="0" dirty="0">
                <a:solidFill>
                  <a:srgbClr val="374151"/>
                </a:solidFill>
                <a:effectLst/>
                <a:latin typeface="Söhne"/>
              </a:rPr>
              <a:t>The system architecture ensures that ionosphere anomalies are effectively detected and monitored using a Random Forest machine learning approach. It combines data processing, model development, real-time prediction, monitoring, and reporting to create a comprehensive solution for anomaly prediction in the ionosphere.</a:t>
            </a:r>
          </a:p>
          <a:p>
            <a:endParaRPr lang="en-IN" dirty="0"/>
          </a:p>
        </p:txBody>
      </p:sp>
    </p:spTree>
    <p:extLst>
      <p:ext uri="{BB962C8B-B14F-4D97-AF65-F5344CB8AC3E}">
        <p14:creationId xmlns:p14="http://schemas.microsoft.com/office/powerpoint/2010/main" val="2748872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162A7-4131-B141-78C5-D2441120FB1E}"/>
              </a:ext>
            </a:extLst>
          </p:cNvPr>
          <p:cNvSpPr>
            <a:spLocks noGrp="1"/>
          </p:cNvSpPr>
          <p:nvPr>
            <p:ph type="title"/>
          </p:nvPr>
        </p:nvSpPr>
        <p:spPr>
          <a:xfrm>
            <a:off x="4037428" y="1"/>
            <a:ext cx="3742006" cy="998805"/>
          </a:xfrm>
        </p:spPr>
        <p:txBody>
          <a:bodyPr/>
          <a:lstStyle/>
          <a:p>
            <a:r>
              <a:rPr lang="en-IN" dirty="0"/>
              <a:t>MODULES</a:t>
            </a:r>
          </a:p>
        </p:txBody>
      </p:sp>
      <p:sp>
        <p:nvSpPr>
          <p:cNvPr id="3" name="Content Placeholder 2">
            <a:extLst>
              <a:ext uri="{FF2B5EF4-FFF2-40B4-BE49-F238E27FC236}">
                <a16:creationId xmlns:a16="http://schemas.microsoft.com/office/drawing/2014/main" id="{C81093A4-98EE-7473-BC42-D3D23391E770}"/>
              </a:ext>
            </a:extLst>
          </p:cNvPr>
          <p:cNvSpPr>
            <a:spLocks noGrp="1"/>
          </p:cNvSpPr>
          <p:nvPr>
            <p:ph idx="1"/>
          </p:nvPr>
        </p:nvSpPr>
        <p:spPr>
          <a:xfrm>
            <a:off x="0" y="998806"/>
            <a:ext cx="12192000" cy="5859193"/>
          </a:xfrm>
        </p:spPr>
        <p:txBody>
          <a:bodyPr>
            <a:normAutofit fontScale="70000" lnSpcReduction="20000"/>
          </a:bodyPr>
          <a:lstStyle/>
          <a:p>
            <a:pPr algn="l">
              <a:buFont typeface="+mj-lt"/>
              <a:buAutoNum type="arabicPeriod"/>
            </a:pPr>
            <a:r>
              <a:rPr lang="en-GB" b="1" i="0" dirty="0">
                <a:solidFill>
                  <a:srgbClr val="374151"/>
                </a:solidFill>
                <a:effectLst/>
                <a:latin typeface="Söhne"/>
              </a:rPr>
              <a:t>Data Collection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This module is responsible for collecting ionospheric data from various sources, such as radar systems or satellite feeds.</a:t>
            </a:r>
          </a:p>
          <a:p>
            <a:pPr marL="742950" lvl="1" indent="-285750" algn="l">
              <a:buFont typeface="+mj-lt"/>
              <a:buAutoNum type="arabicPeriod"/>
            </a:pPr>
            <a:r>
              <a:rPr lang="en-GB" b="0" i="0" dirty="0">
                <a:solidFill>
                  <a:srgbClr val="374151"/>
                </a:solidFill>
                <a:effectLst/>
                <a:latin typeface="Söhne"/>
              </a:rPr>
              <a:t>It may include data retrieval, data source integration, and data streaming components.</a:t>
            </a:r>
          </a:p>
          <a:p>
            <a:pPr algn="l">
              <a:buFont typeface="+mj-lt"/>
              <a:buAutoNum type="arabicPeriod"/>
            </a:pPr>
            <a:r>
              <a:rPr lang="en-GB" b="1" i="0" dirty="0">
                <a:solidFill>
                  <a:srgbClr val="374151"/>
                </a:solidFill>
                <a:effectLst/>
                <a:latin typeface="Söhne"/>
              </a:rPr>
              <a:t>Data Preprocessing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data collected may require cleaning and preprocessing before it can be used for model training.</a:t>
            </a:r>
          </a:p>
          <a:p>
            <a:pPr marL="742950" lvl="1" indent="-285750" algn="l">
              <a:buFont typeface="+mj-lt"/>
              <a:buAutoNum type="arabicPeriod"/>
            </a:pPr>
            <a:r>
              <a:rPr lang="en-GB" b="0" i="0" dirty="0">
                <a:solidFill>
                  <a:srgbClr val="374151"/>
                </a:solidFill>
                <a:effectLst/>
                <a:latin typeface="Söhne"/>
              </a:rPr>
              <a:t>This module handles tasks such as data cleaning, feature scaling, handling missing values, and encoding categorical data.</a:t>
            </a:r>
          </a:p>
          <a:p>
            <a:pPr algn="l">
              <a:buFont typeface="+mj-lt"/>
              <a:buAutoNum type="arabicPeriod"/>
            </a:pPr>
            <a:r>
              <a:rPr lang="en-GB" b="1" i="0" dirty="0">
                <a:solidFill>
                  <a:srgbClr val="374151"/>
                </a:solidFill>
                <a:effectLst/>
                <a:latin typeface="Söhne"/>
              </a:rPr>
              <a:t>Data Splitting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To train and evaluate the machine learning model, the dataset needs to be divided into training and testing subsets.</a:t>
            </a:r>
          </a:p>
          <a:p>
            <a:pPr marL="742950" lvl="1" indent="-285750" algn="l">
              <a:buFont typeface="+mj-lt"/>
              <a:buAutoNum type="arabicPeriod"/>
            </a:pPr>
            <a:r>
              <a:rPr lang="en-GB" b="0" i="0" dirty="0">
                <a:solidFill>
                  <a:srgbClr val="374151"/>
                </a:solidFill>
                <a:effectLst/>
                <a:latin typeface="Söhne"/>
              </a:rPr>
              <a:t>This module performs the data splitting, ensuring that the model is trained on one subset and tested on another.</a:t>
            </a:r>
          </a:p>
          <a:p>
            <a:pPr algn="l">
              <a:buFont typeface="+mj-lt"/>
              <a:buAutoNum type="arabicPeriod"/>
            </a:pPr>
            <a:r>
              <a:rPr lang="en-GB" b="1" i="0" dirty="0">
                <a:solidFill>
                  <a:srgbClr val="374151"/>
                </a:solidFill>
                <a:effectLst/>
                <a:latin typeface="Söhne"/>
              </a:rPr>
              <a:t>Random Forest Model Building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core of the project, this module is responsible for building and training the Random Forest machine learning model.</a:t>
            </a:r>
          </a:p>
          <a:p>
            <a:pPr marL="742950" lvl="1" indent="-285750" algn="l">
              <a:buFont typeface="+mj-lt"/>
              <a:buAutoNum type="arabicPeriod"/>
            </a:pPr>
            <a:r>
              <a:rPr lang="en-GB" b="0" i="0" dirty="0">
                <a:solidFill>
                  <a:srgbClr val="374151"/>
                </a:solidFill>
                <a:effectLst/>
                <a:latin typeface="Söhne"/>
              </a:rPr>
              <a:t>It involves selecting features, specifying hyperparameters, and training the model on the training dataset.</a:t>
            </a:r>
          </a:p>
          <a:p>
            <a:pPr algn="l">
              <a:buFont typeface="+mj-lt"/>
              <a:buAutoNum type="arabicPeriod"/>
            </a:pPr>
            <a:r>
              <a:rPr lang="en-GB" b="1" i="0" dirty="0">
                <a:solidFill>
                  <a:srgbClr val="374151"/>
                </a:solidFill>
                <a:effectLst/>
                <a:latin typeface="Söhne"/>
              </a:rPr>
              <a:t>Hyperparameter Tuning Module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This optional module focuses on hyperparameter tuning to optimize the Random Forest model's performance.</a:t>
            </a:r>
          </a:p>
          <a:p>
            <a:pPr marL="742950" lvl="1" indent="-285750" algn="l">
              <a:buFont typeface="+mj-lt"/>
              <a:buAutoNum type="arabicPeriod"/>
            </a:pPr>
            <a:r>
              <a:rPr lang="en-GB" b="0" i="0" dirty="0">
                <a:solidFill>
                  <a:srgbClr val="374151"/>
                </a:solidFill>
                <a:effectLst/>
                <a:latin typeface="Söhne"/>
              </a:rPr>
              <a:t>Techniques like grid search or random search may be employed to find the best hyperparameters.</a:t>
            </a:r>
          </a:p>
          <a:p>
            <a:pPr algn="l">
              <a:buFont typeface="+mj-lt"/>
              <a:buAutoNum type="arabicPeriod"/>
            </a:pPr>
            <a:r>
              <a:rPr lang="en-GB" b="1" i="0" dirty="0">
                <a:solidFill>
                  <a:srgbClr val="374151"/>
                </a:solidFill>
                <a:effectLst/>
                <a:latin typeface="Söhne"/>
              </a:rPr>
              <a:t>Model Evaluation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After model training, this module evaluates the model's performance using various evaluation metrics.</a:t>
            </a:r>
          </a:p>
          <a:p>
            <a:pPr marL="742950" lvl="1" indent="-285750" algn="l">
              <a:buFont typeface="+mj-lt"/>
              <a:buAutoNum type="arabicPeriod"/>
            </a:pPr>
            <a:r>
              <a:rPr lang="en-GB" b="0" i="0" dirty="0">
                <a:solidFill>
                  <a:srgbClr val="374151"/>
                </a:solidFill>
                <a:effectLst/>
                <a:latin typeface="Söhne"/>
              </a:rPr>
              <a:t>It assesses the model's ability to detect ionosphere anomalies, including accuracy, precision, recall, and F1-score.</a:t>
            </a:r>
          </a:p>
          <a:p>
            <a:pPr algn="l">
              <a:buFont typeface="+mj-lt"/>
              <a:buAutoNum type="arabicPeriod"/>
            </a:pPr>
            <a:r>
              <a:rPr lang="en-GB" b="1" i="0" dirty="0">
                <a:solidFill>
                  <a:srgbClr val="374151"/>
                </a:solidFill>
                <a:effectLst/>
                <a:latin typeface="Söhne"/>
              </a:rPr>
              <a:t>Anomaly Detection Threshold Module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If applicable, this module defines and sets an anomaly detection threshold for classifying data points as anomalies.</a:t>
            </a:r>
          </a:p>
          <a:p>
            <a:pPr marL="742950" lvl="1" indent="-285750" algn="l">
              <a:buFont typeface="+mj-lt"/>
              <a:buAutoNum type="arabicPeriod"/>
            </a:pPr>
            <a:r>
              <a:rPr lang="en-GB" b="0" i="0" dirty="0">
                <a:solidFill>
                  <a:srgbClr val="374151"/>
                </a:solidFill>
                <a:effectLst/>
                <a:latin typeface="Söhne"/>
              </a:rPr>
              <a:t>It can be based on probability scores generated by the model.</a:t>
            </a:r>
          </a:p>
          <a:p>
            <a:endParaRPr lang="en-IN" dirty="0"/>
          </a:p>
        </p:txBody>
      </p:sp>
    </p:spTree>
    <p:extLst>
      <p:ext uri="{BB962C8B-B14F-4D97-AF65-F5344CB8AC3E}">
        <p14:creationId xmlns:p14="http://schemas.microsoft.com/office/powerpoint/2010/main" val="3860922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A8182-9884-C90D-DC19-3DE374D23D47}"/>
              </a:ext>
            </a:extLst>
          </p:cNvPr>
          <p:cNvSpPr>
            <a:spLocks noGrp="1"/>
          </p:cNvSpPr>
          <p:nvPr>
            <p:ph type="title"/>
          </p:nvPr>
        </p:nvSpPr>
        <p:spPr>
          <a:xfrm>
            <a:off x="4473526" y="1"/>
            <a:ext cx="3305908" cy="1153550"/>
          </a:xfrm>
        </p:spPr>
        <p:txBody>
          <a:bodyPr/>
          <a:lstStyle/>
          <a:p>
            <a:r>
              <a:rPr lang="en-IN" dirty="0"/>
              <a:t>MODULES</a:t>
            </a:r>
          </a:p>
        </p:txBody>
      </p:sp>
      <p:sp>
        <p:nvSpPr>
          <p:cNvPr id="3" name="Content Placeholder 2">
            <a:extLst>
              <a:ext uri="{FF2B5EF4-FFF2-40B4-BE49-F238E27FC236}">
                <a16:creationId xmlns:a16="http://schemas.microsoft.com/office/drawing/2014/main" id="{12BF8DBA-EB34-2F8C-2E8E-74FE25296B2D}"/>
              </a:ext>
            </a:extLst>
          </p:cNvPr>
          <p:cNvSpPr>
            <a:spLocks noGrp="1"/>
          </p:cNvSpPr>
          <p:nvPr>
            <p:ph idx="1"/>
          </p:nvPr>
        </p:nvSpPr>
        <p:spPr>
          <a:xfrm>
            <a:off x="112542" y="1153551"/>
            <a:ext cx="12079458" cy="5430130"/>
          </a:xfrm>
        </p:spPr>
        <p:txBody>
          <a:bodyPr>
            <a:normAutofit fontScale="85000" lnSpcReduction="20000"/>
          </a:bodyPr>
          <a:lstStyle/>
          <a:p>
            <a:pPr marL="0" indent="0" algn="l">
              <a:buNone/>
            </a:pPr>
            <a:r>
              <a:rPr lang="en-GB" b="1" i="0" dirty="0">
                <a:solidFill>
                  <a:srgbClr val="374151"/>
                </a:solidFill>
                <a:effectLst/>
                <a:latin typeface="Söhne"/>
              </a:rPr>
              <a:t>8.Real-time Prediction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To monitor ionosphere anomalies in real-time, this module deploys the trained model for making predictions on incoming data.</a:t>
            </a:r>
          </a:p>
          <a:p>
            <a:pPr marL="742950" lvl="1" indent="-285750" algn="l">
              <a:buFont typeface="+mj-lt"/>
              <a:buAutoNum type="arabicPeriod"/>
            </a:pPr>
            <a:r>
              <a:rPr lang="en-GB" b="0" i="0" dirty="0">
                <a:solidFill>
                  <a:srgbClr val="374151"/>
                </a:solidFill>
                <a:effectLst/>
                <a:latin typeface="Söhne"/>
              </a:rPr>
              <a:t>It supports continuous monitoring and prediction.</a:t>
            </a:r>
          </a:p>
          <a:p>
            <a:pPr marL="0" indent="0" algn="l">
              <a:buNone/>
            </a:pPr>
            <a:r>
              <a:rPr lang="en-GB" b="1" i="0" dirty="0">
                <a:solidFill>
                  <a:srgbClr val="374151"/>
                </a:solidFill>
                <a:effectLst/>
                <a:latin typeface="Söhne"/>
              </a:rPr>
              <a:t>9.Monitoring and Alerting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This module continuously monitors the model's performance and incoming data.</a:t>
            </a:r>
          </a:p>
          <a:p>
            <a:pPr marL="742950" lvl="1" indent="-285750" algn="l">
              <a:buFont typeface="+mj-lt"/>
              <a:buAutoNum type="arabicPeriod"/>
            </a:pPr>
            <a:r>
              <a:rPr lang="en-GB" b="0" i="0" dirty="0">
                <a:solidFill>
                  <a:srgbClr val="374151"/>
                </a:solidFill>
                <a:effectLst/>
                <a:latin typeface="Söhne"/>
              </a:rPr>
              <a:t>It generates alerts or notifications when anomalies are detected, ensuring timely responses.</a:t>
            </a:r>
          </a:p>
          <a:p>
            <a:pPr marL="0" indent="0" algn="l">
              <a:buNone/>
            </a:pPr>
            <a:r>
              <a:rPr lang="en-GB" b="1" i="0" dirty="0">
                <a:solidFill>
                  <a:srgbClr val="374151"/>
                </a:solidFill>
                <a:effectLst/>
                <a:latin typeface="Söhne"/>
              </a:rPr>
              <a:t>10.Reactive Measures Module (Optional):</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Depending on the project's domain, this module defines and executes specific actions when anomalies are identified.</a:t>
            </a:r>
          </a:p>
          <a:p>
            <a:pPr marL="742950" lvl="1" indent="-285750" algn="l">
              <a:buFont typeface="+mj-lt"/>
              <a:buAutoNum type="arabicPeriod"/>
            </a:pPr>
            <a:r>
              <a:rPr lang="en-GB" b="0" i="0" dirty="0">
                <a:solidFill>
                  <a:srgbClr val="374151"/>
                </a:solidFill>
                <a:effectLst/>
                <a:latin typeface="Söhne"/>
              </a:rPr>
              <a:t>It may include automated responses or recommendations for human intervention.</a:t>
            </a:r>
          </a:p>
          <a:p>
            <a:pPr marL="0" indent="0" algn="l">
              <a:buNone/>
            </a:pPr>
            <a:r>
              <a:rPr lang="en-GB" b="1" i="0" dirty="0">
                <a:solidFill>
                  <a:srgbClr val="374151"/>
                </a:solidFill>
                <a:effectLst/>
                <a:latin typeface="Söhne"/>
              </a:rPr>
              <a:t>11.Reporting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The reporting module generates detailed reports summarizing the model's performance.</a:t>
            </a:r>
          </a:p>
          <a:p>
            <a:pPr marL="742950" lvl="1" indent="-285750" algn="l">
              <a:buFont typeface="+mj-lt"/>
              <a:buAutoNum type="arabicPeriod"/>
            </a:pPr>
            <a:r>
              <a:rPr lang="en-GB" b="0" i="0" dirty="0">
                <a:solidFill>
                  <a:srgbClr val="374151"/>
                </a:solidFill>
                <a:effectLst/>
                <a:latin typeface="Söhne"/>
              </a:rPr>
              <a:t>Reports include accuracy metrics, confusion matrices, and insights into detected anomalies.</a:t>
            </a:r>
          </a:p>
          <a:p>
            <a:pPr marL="0" indent="0" algn="l">
              <a:buNone/>
            </a:pPr>
            <a:r>
              <a:rPr lang="en-GB" b="1" i="0" dirty="0">
                <a:solidFill>
                  <a:srgbClr val="374151"/>
                </a:solidFill>
                <a:effectLst/>
                <a:latin typeface="Söhne"/>
              </a:rPr>
              <a:t>12.Feedback Loop Module:</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Continuous improvement is facilitated through a feedback loop that collects input from monitoring and users.</a:t>
            </a:r>
          </a:p>
          <a:p>
            <a:pPr marL="742950" lvl="1" indent="-285750" algn="l">
              <a:buFont typeface="+mj-lt"/>
              <a:buAutoNum type="arabicPeriod"/>
            </a:pPr>
            <a:r>
              <a:rPr lang="en-GB" b="0" i="0" dirty="0">
                <a:solidFill>
                  <a:srgbClr val="374151"/>
                </a:solidFill>
                <a:effectLst/>
                <a:latin typeface="Söhne"/>
              </a:rPr>
              <a:t>Feedback informs adjustments to the model and system.</a:t>
            </a:r>
          </a:p>
        </p:txBody>
      </p:sp>
    </p:spTree>
    <p:extLst>
      <p:ext uri="{BB962C8B-B14F-4D97-AF65-F5344CB8AC3E}">
        <p14:creationId xmlns:p14="http://schemas.microsoft.com/office/powerpoint/2010/main" val="1533156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9AAE0-DE45-C723-AB2E-DB7178CB351B}"/>
              </a:ext>
            </a:extLst>
          </p:cNvPr>
          <p:cNvSpPr>
            <a:spLocks noGrp="1"/>
          </p:cNvSpPr>
          <p:nvPr>
            <p:ph type="title"/>
          </p:nvPr>
        </p:nvSpPr>
        <p:spPr>
          <a:xfrm>
            <a:off x="4417255" y="282446"/>
            <a:ext cx="6936544" cy="758564"/>
          </a:xfrm>
        </p:spPr>
        <p:txBody>
          <a:bodyPr>
            <a:normAutofit/>
          </a:bodyPr>
          <a:lstStyle/>
          <a:p>
            <a:r>
              <a:rPr lang="en-IN" dirty="0"/>
              <a:t>MOULES</a:t>
            </a:r>
          </a:p>
        </p:txBody>
      </p:sp>
      <p:sp>
        <p:nvSpPr>
          <p:cNvPr id="4" name="Rectangle 1">
            <a:extLst>
              <a:ext uri="{FF2B5EF4-FFF2-40B4-BE49-F238E27FC236}">
                <a16:creationId xmlns:a16="http://schemas.microsoft.com/office/drawing/2014/main" id="{1FE9D54C-A456-870F-8C04-EB3DA18B45E1}"/>
              </a:ext>
            </a:extLst>
          </p:cNvPr>
          <p:cNvSpPr>
            <a:spLocks noGrp="1" noChangeArrowheads="1"/>
          </p:cNvSpPr>
          <p:nvPr>
            <p:ph idx="1"/>
          </p:nvPr>
        </p:nvSpPr>
        <p:spPr bwMode="auto">
          <a:xfrm>
            <a:off x="0" y="1076051"/>
            <a:ext cx="12192001" cy="634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0000"/>
                </a:solidFill>
                <a:effectLst/>
                <a:latin typeface="Söhne"/>
              </a:rPr>
              <a:t>13.User Interface Module (Optional):</a:t>
            </a:r>
            <a:endParaRPr kumimoji="0" lang="en-US" altLang="en-US" sz="20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Söhne"/>
              </a:rPr>
              <a:t>If the project involves user interaction, this module handles the development of a user interface for data visualization, model control, and reporting.</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0000"/>
                </a:solidFill>
                <a:effectLst/>
                <a:latin typeface="Söhne"/>
              </a:rPr>
              <a:t>14.Database Integration Module (Optional):</a:t>
            </a:r>
            <a:endParaRPr kumimoji="0" lang="en-US" altLang="en-US" sz="20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Söhne"/>
              </a:rPr>
              <a:t>For data storage and retrieval, this module integrates with databases to manage historical and real-time data.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0000"/>
                </a:solidFill>
                <a:effectLst/>
                <a:latin typeface="Söhne"/>
              </a:rPr>
              <a:t>15.End:</a:t>
            </a:r>
            <a:endParaRPr kumimoji="0" lang="en-US" altLang="en-US" sz="2000" b="0" i="0" u="none" strike="noStrike" cap="none" normalizeH="0" baseline="0" dirty="0">
              <a:ln>
                <a:noFill/>
              </a:ln>
              <a:solidFill>
                <a:srgbClr val="000000"/>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Söhne"/>
              </a:rPr>
              <a:t>The project's flow concludes with the "End" module, indicating the end of the system's execution.</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Söhne"/>
              </a:rPr>
              <a:t>These modules collectively form the framework for the project, allowing for the effective prediction and monitoring of ionosphere anomalies using a Random Forest machine learning approach. Depending on the project's complexity and requirements, some modules may be optional or further subdivided into sub-modules</a:t>
            </a:r>
            <a:r>
              <a:rPr kumimoji="0" lang="en-US" altLang="en-US" sz="1800" b="0" i="0" u="none" strike="noStrike" cap="none" normalizeH="0" baseline="0" dirty="0">
                <a:ln>
                  <a:noFill/>
                </a:ln>
                <a:solidFill>
                  <a:srgbClr val="000000"/>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000000"/>
              </a:solidFill>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000000"/>
              </a:solidFill>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0180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F349-FFDA-D384-A4C6-2A8C02E2722B}"/>
              </a:ext>
            </a:extLst>
          </p:cNvPr>
          <p:cNvSpPr>
            <a:spLocks noGrp="1"/>
          </p:cNvSpPr>
          <p:nvPr>
            <p:ph type="title"/>
          </p:nvPr>
        </p:nvSpPr>
        <p:spPr>
          <a:xfrm>
            <a:off x="4459458" y="365125"/>
            <a:ext cx="3615397" cy="1325563"/>
          </a:xfrm>
        </p:spPr>
        <p:txBody>
          <a:bodyPr/>
          <a:lstStyle/>
          <a:p>
            <a:r>
              <a:rPr lang="en-IN" dirty="0"/>
              <a:t>THANKU YOU</a:t>
            </a:r>
          </a:p>
        </p:txBody>
      </p:sp>
      <p:sp>
        <p:nvSpPr>
          <p:cNvPr id="3" name="Content Placeholder 2">
            <a:extLst>
              <a:ext uri="{FF2B5EF4-FFF2-40B4-BE49-F238E27FC236}">
                <a16:creationId xmlns:a16="http://schemas.microsoft.com/office/drawing/2014/main" id="{9DB39040-019E-EC09-0ADD-3B917F51CAC1}"/>
              </a:ext>
            </a:extLst>
          </p:cNvPr>
          <p:cNvSpPr>
            <a:spLocks noGrp="1"/>
          </p:cNvSpPr>
          <p:nvPr>
            <p:ph idx="1"/>
          </p:nvPr>
        </p:nvSpPr>
        <p:spPr>
          <a:xfrm>
            <a:off x="3108960" y="3207433"/>
            <a:ext cx="6597748" cy="2672862"/>
          </a:xfrm>
        </p:spPr>
        <p:txBody>
          <a:bodyPr/>
          <a:lstStyle/>
          <a:p>
            <a:pPr marL="0" indent="0">
              <a:buNone/>
            </a:pPr>
            <a:r>
              <a:rPr lang="en-IN" sz="2800" dirty="0"/>
              <a:t>We thank our guide and panel and all technical and non technical staff helped us in achieving this.</a:t>
            </a:r>
          </a:p>
          <a:p>
            <a:endParaRPr lang="en-IN" dirty="0"/>
          </a:p>
        </p:txBody>
      </p:sp>
      <p:sp>
        <p:nvSpPr>
          <p:cNvPr id="4" name="Rectangle 3">
            <a:extLst>
              <a:ext uri="{FF2B5EF4-FFF2-40B4-BE49-F238E27FC236}">
                <a16:creationId xmlns:a16="http://schemas.microsoft.com/office/drawing/2014/main" id="{87A44111-F523-02B4-C54D-63668C50AA1F}"/>
              </a:ext>
            </a:extLst>
          </p:cNvPr>
          <p:cNvSpPr/>
          <p:nvPr/>
        </p:nvSpPr>
        <p:spPr>
          <a:xfrm>
            <a:off x="2757268" y="2180492"/>
            <a:ext cx="6850966" cy="30667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3600" dirty="0"/>
              <a:t>We thank our guide and panel and all technical and non technical staff helped us in achieving this.</a:t>
            </a:r>
          </a:p>
        </p:txBody>
      </p:sp>
    </p:spTree>
    <p:extLst>
      <p:ext uri="{BB962C8B-B14F-4D97-AF65-F5344CB8AC3E}">
        <p14:creationId xmlns:p14="http://schemas.microsoft.com/office/powerpoint/2010/main" val="1581195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3336</Words>
  <Application>Microsoft Office PowerPoint</Application>
  <PresentationFormat>Widescreen</PresentationFormat>
  <Paragraphs>261</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-apple-system</vt:lpstr>
      <vt:lpstr>Arial</vt:lpstr>
      <vt:lpstr>Arial Black</vt:lpstr>
      <vt:lpstr>Calibri</vt:lpstr>
      <vt:lpstr>Calibri Light</vt:lpstr>
      <vt:lpstr>Segoe UI</vt:lpstr>
      <vt:lpstr>Söhne</vt:lpstr>
      <vt:lpstr>Times New Roman</vt:lpstr>
      <vt:lpstr>Office Theme</vt:lpstr>
      <vt:lpstr> </vt:lpstr>
      <vt:lpstr>                         ABSTRACT</vt:lpstr>
      <vt:lpstr>                      INTRODUTION </vt:lpstr>
      <vt:lpstr>INTRODUCTON</vt:lpstr>
      <vt:lpstr>OBJECTIVES</vt:lpstr>
      <vt:lpstr>OBJECTION </vt:lpstr>
      <vt:lpstr>SCOPE OF WORK</vt:lpstr>
      <vt:lpstr>C</vt:lpstr>
      <vt:lpstr>METHODOLOGY</vt:lpstr>
      <vt:lpstr>APPLICATION</vt:lpstr>
      <vt:lpstr>APPLICATION</vt:lpstr>
      <vt:lpstr>SOFTWARE REQUIREMENTS </vt:lpstr>
      <vt:lpstr>HARDWARE REQUIREMENTS</vt:lpstr>
      <vt:lpstr>SYSTEM ARCHITECTURE</vt:lpstr>
      <vt:lpstr>SYSTEM ARCHITECTURE</vt:lpstr>
      <vt:lpstr>MODULES</vt:lpstr>
      <vt:lpstr>MODULES</vt:lpstr>
      <vt:lpstr>MOULES</vt:lpstr>
      <vt:lpstr>THANKU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surya vinay varma vegesna</dc:creator>
  <cp:lastModifiedBy>surya vinay varma vegesna</cp:lastModifiedBy>
  <cp:revision>7</cp:revision>
  <dcterms:created xsi:type="dcterms:W3CDTF">2023-09-22T19:04:35Z</dcterms:created>
  <dcterms:modified xsi:type="dcterms:W3CDTF">2023-09-25T08:13:45Z</dcterms:modified>
</cp:coreProperties>
</file>